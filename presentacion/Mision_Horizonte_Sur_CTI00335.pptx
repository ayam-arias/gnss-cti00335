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2-1.jpg" ContentType="image/jpg"/>
  <Override PartName="/ppt/media/image-2-2.jpg" ContentType="image/jpg"/>
  <Override PartName="/ppt/media/image-2-3.jpg" ContentType="image/jpg"/>
  <Override PartName="/ppt/media/image-2-4.jpg" ContentType="image/jpg"/>
  <Override PartName="/ppt/media/image-3-1.jpg" ContentType="image/jpg"/>
  <Override PartName="/ppt/media/image-3-2.jpg" ContentType="image/jpg"/>
  <Override PartName="/ppt/media/image-4-1.jpg" ContentType="image/jpg"/>
  <Override PartName="/ppt/media/image-4-2.jpg" ContentType="image/jpg"/>
  <Override PartName="/ppt/media/image-6-1.jpg" ContentType="image/jpg"/>
  <Override PartName="/ppt/media/image-8-1.jpg" ContentType="image/jpg"/>
  <Override PartName="/ppt/media/image-8-2.jpg" ContentType="image/jpg"/>
  <Override PartName="/ppt/media/image-8-3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57" r:id="rId3"/>
    <p:sldId id="283" r:id="rId34"/>
    <p:sldId id="284" r:id="rId35"/>
    <p:sldId id="285" r:id="rId36"/>
    <p:sldId id="286" r:id="rId37"/>
    <p:sldId id="258" r:id="rId4"/>
    <p:sldId id="259" r:id="rId5"/>
    <p:sldId id="260" r:id="rId6"/>
    <p:sldId id="287" r:id="rId38"/>
    <p:sldId id="261" r:id="rId7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305" r:id="rId56"/>
    <p:sldId id="271" r:id="rId17"/>
    <p:sldId id="272" r:id="rId18"/>
    <p:sldId id="273" r:id="rId19"/>
    <p:sldId id="306" r:id="rId57"/>
    <p:sldId id="274" r:id="rId20"/>
    <p:sldId id="307" r:id="rId58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ee1d4d9f-f928-7e0e-6993-5f624544f678}">
          <p14:sldIdLst>
            <p14:sldId id="256"/>
            <p14:sldId id="257"/>
            <p14:sldId id="258"/>
            <p14:sldId id="259"/>
          </p14:sldIdLst>
        </p14:section>
        <p14:section name="Conceptos clave" id="{e662e12e-e0dc-a60c-be8f-6e26a5c4e8a8}">
          <p14:sldIdLst>
            <p14:sldId id="260"/>
            <p14:sldId id="261"/>
          </p14:sldIdLst>
        </p14:section>
        <p14:section name="El caso" id="{550be77b-1d42-d583-06f3-114ec550a49d}">
          <p14:sldIdLst>
            <p14:sldId id="262"/>
            <p14:sldId id="263"/>
            <p14:sldId id="264"/>
            <p14:sldId id="265"/>
          </p14:sldIdLst>
        </p14:section>
        <p14:section name="Cómo resolverlo" id="{4b72198d-55cf-5a4d-a65e-4b6a8d5a2d9b}">
          <p14:sldIdLst>
            <p14:sldId id="266"/>
            <p14:sldId id="267"/>
            <p14:sldId id="268"/>
            <p14:sldId id="269"/>
            <p14:sldId id="270"/>
          </p14:sldIdLst>
        </p14:section>
        <p14:section name="Cierre" id="{8fa1bb13-88e8-35a2-754d-e9b272d17867}">
          <p14:sldIdLst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9.xml"/><Relationship Id="rId4" Type="http://schemas.openxmlformats.org/officeDocument/2006/relationships/slide" Target="slides/slide14.xml"/><Relationship Id="rId5" Type="http://schemas.openxmlformats.org/officeDocument/2006/relationships/slide" Target="slides/slide15.xml"/><Relationship Id="rId6" Type="http://schemas.openxmlformats.org/officeDocument/2006/relationships/slide" Target="slides/slide16.xml"/><Relationship Id="rId7" Type="http://schemas.openxmlformats.org/officeDocument/2006/relationships/slide" Target="slides/slide18.xml"/><Relationship Id="rId8" Type="http://schemas.openxmlformats.org/officeDocument/2006/relationships/slide" Target="slides/slide36.xml"/><Relationship Id="rId9" Type="http://schemas.openxmlformats.org/officeDocument/2006/relationships/slide" Target="slides/slide37.xml"/><Relationship Id="rId10" Type="http://schemas.openxmlformats.org/officeDocument/2006/relationships/slide" Target="slides/slide38.xml"/><Relationship Id="rId11" Type="http://schemas.openxmlformats.org/officeDocument/2006/relationships/slide" Target="slides/slide39.xml"/><Relationship Id="rId12" Type="http://schemas.openxmlformats.org/officeDocument/2006/relationships/slide" Target="slides/slide40.xml"/><Relationship Id="rId13" Type="http://schemas.openxmlformats.org/officeDocument/2006/relationships/slide" Target="slides/slide41.xml"/><Relationship Id="rId14" Type="http://schemas.openxmlformats.org/officeDocument/2006/relationships/slide" Target="slides/slide42.xml"/><Relationship Id="rId15" Type="http://schemas.openxmlformats.org/officeDocument/2006/relationships/slide" Target="slides/slide43.xml"/><Relationship Id="rId16" Type="http://schemas.openxmlformats.org/officeDocument/2006/relationships/slide" Target="slides/slide44.xml"/><Relationship Id="rId17" Type="http://schemas.openxmlformats.org/officeDocument/2006/relationships/slide" Target="slides/slide46.xml"/><Relationship Id="rId18" Type="http://schemas.openxmlformats.org/officeDocument/2006/relationships/slide" Target="slides/slide47.xml"/><Relationship Id="rId19" Type="http://schemas.openxmlformats.org/officeDocument/2006/relationships/slide" Target="slides/slide48.xml"/><Relationship Id="rId20" Type="http://schemas.openxmlformats.org/officeDocument/2006/relationships/slide" Target="slides/slide50.xml"/><Relationship Id="rId21" Type="http://schemas.openxmlformats.org/officeDocument/2006/relationships/slide" Target="slides/slide52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10.xml"/><Relationship Id="rId35" Type="http://schemas.openxmlformats.org/officeDocument/2006/relationships/slide" Target="slides/slide11.xml"/><Relationship Id="rId36" Type="http://schemas.openxmlformats.org/officeDocument/2006/relationships/slide" Target="slides/slide12.xml"/><Relationship Id="rId37" Type="http://schemas.openxmlformats.org/officeDocument/2006/relationships/slide" Target="slides/slide13.xml"/><Relationship Id="rId38" Type="http://schemas.openxmlformats.org/officeDocument/2006/relationships/slide" Target="slides/slide17.xml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schemas.openxmlformats.org/officeDocument/2006/relationships/slide" Target="slides/slide32.xml"/><Relationship Id="rId53" Type="http://schemas.openxmlformats.org/officeDocument/2006/relationships/slide" Target="slides/slide33.xml"/><Relationship Id="rId54" Type="http://schemas.openxmlformats.org/officeDocument/2006/relationships/slide" Target="slides/slide34.xml"/><Relationship Id="rId55" Type="http://schemas.openxmlformats.org/officeDocument/2006/relationships/slide" Target="slides/slide35.xml"/><Relationship Id="rId56" Type="http://schemas.openxmlformats.org/officeDocument/2006/relationships/slide" Target="slides/slide45.xml"/><Relationship Id="rId57" Type="http://schemas.openxmlformats.org/officeDocument/2006/relationships/slide" Target="slides/slide49.xml"/><Relationship Id="rId58" Type="http://schemas.openxmlformats.org/officeDocument/2006/relationships/slide" Target="slides/slide5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Puntaje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B33D"/>
              </a:solidFill>
              <a:effectLst/>
            </c:spPr>
          </c:dPt>
          <c:dPt>
            <c:idx val="1"/>
            <c:bubble3D val="0"/>
            <c:spPr>
              <a:solidFill>
                <a:srgbClr val="5AA9FF"/>
              </a:solidFill>
              <a:effectLst/>
            </c:spPr>
          </c:dPt>
          <c:dPt>
            <c:idx val="2"/>
            <c:bubble3D val="0"/>
            <c:spPr>
              <a:solidFill>
                <a:srgbClr val="9FB5AE"/>
              </a:solidFill>
              <a:effectLst/>
            </c:spPr>
          </c:dPt>
          <c:dPt>
            <c:idx val="3"/>
            <c:bubble3D val="0"/>
            <c:spPr>
              <a:solidFill>
                <a:srgbClr val="E8705C"/>
              </a:solidFill>
              <a:effectLst/>
            </c:spPr>
          </c:dPt>
          <c:dPt>
            <c:idx val="4"/>
            <c:bubble3D val="0"/>
            <c:spPr>
              <a:solidFill>
                <a:srgbClr val="4FD1A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DOP y precisión</c:v>
                </c:pt>
                <c:pt idx="1">
                  <c:v>Selección GNSS</c:v>
                </c:pt>
                <c:pt idx="2">
                  <c:v>Límites y honestidad</c:v>
                </c:pt>
                <c:pt idx="3">
                  <c:v>Argumentación</c:v>
                </c:pt>
                <c:pt idx="4">
                  <c:v>Recomendaciones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30</c:v>
                </c:pt>
                <c:pt idx="1">
                  <c:v>30</c:v>
                </c:pt>
                <c:pt idx="2">
                  <c:v>10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 Oscuro">
    <p:bg>
      <p:bgPr>
        <a:solidFill>
          <a:srgbClr val="06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logo_w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384048"/>
            <a:ext cx="777240" cy="573329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3400" dirty="0"/>
          </a:p>
        </p:txBody>
      </p:sp>
      <p:sp>
        <p:nvSpPr>
          <p:cNvPr id="5" name="Text 0"/>
          <p:cNvSpPr/>
          <p:nvPr/>
        </p:nvSpPr>
        <p:spPr>
          <a:xfrm>
            <a:off x="640080" y="6291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CTI00335 · Sistemas Globales de Navegación por Satélite · Sede Online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9FB5A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 Claro">
    <p:bg>
      <p:bgPr>
        <a:solidFill>
          <a:srgbClr val="F2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91495" y="274320"/>
            <a:ext cx="1097280" cy="786384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3" name="Image 0" descr="/home/claude/img/logo_w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384048"/>
            <a:ext cx="777240" cy="573329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</a:t>
            </a: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3400" dirty="0"/>
          </a:p>
        </p:txBody>
      </p:sp>
      <p:sp>
        <p:nvSpPr>
          <p:cNvPr id="6" name="Text 1"/>
          <p:cNvSpPr/>
          <p:nvPr/>
        </p:nvSpPr>
        <p:spPr>
          <a:xfrm>
            <a:off x="640080" y="6291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36D"/>
                </a:solidFill>
              </a:rPr>
              <a:t>CTI00335 · Sistemas Globales de Navegación por Satélite · Sede Online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5F736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 Verde">
    <p:bg>
      <p:bgPr>
        <a:solidFill>
          <a:srgbClr val="004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logo_w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384048"/>
            <a:ext cx="777240" cy="573329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3400" dirty="0"/>
          </a:p>
        </p:txBody>
      </p:sp>
      <p:sp>
        <p:nvSpPr>
          <p:cNvPr id="5" name="Text 0"/>
          <p:cNvSpPr/>
          <p:nvPr/>
        </p:nvSpPr>
        <p:spPr>
          <a:xfrm>
            <a:off x="640080" y="6291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C7BA"/>
                </a:solidFill>
              </a:rPr>
              <a:t>CTI00335 · Sistemas Globales de Navegación por Satélite · Sede Online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9CC7B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9FB5A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Slide-1-image-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image" Target="../media/Slide-1-image-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Slide-1-image-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-2-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Slide-7-image-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image" Target="../media/Slide-1-image-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Slide-7-image-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satellitemap.space" TargetMode="External"/><Relationship Id="rId4" Type="http://schemas.openxmlformats.org/officeDocument/2006/relationships/hyperlink" Target="https://www.navcen.uscg.gov/gps-constellation" TargetMode="External"/><Relationship Id="rId5" Type="http://schemas.openxmlformats.org/officeDocument/2006/relationships/hyperlink" Target="https://www.gsc-europa.eu/system-service-status/constellation-information" TargetMode="External"/><Relationship Id="rId6" Type="http://schemas.openxmlformats.org/officeDocument/2006/relationships/hyperlink" Target="https://glonass-iac.ru/en/" TargetMode="External"/><Relationship Id="rId7" Type="http://schemas.openxmlformats.org/officeDocument/2006/relationships/hyperlink" Target="https://www.gnssplanning.com" TargetMode="External"/><Relationship Id="rId8" Type="http://schemas.openxmlformats.org/officeDocument/2006/relationships/hyperlink" Target="https://www.sirgaschile.c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image" Target="../media/Slide-1-image-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hyperlink" Target="https://www.gnssplanning.com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Slide-1-image-1.jpeg"/><Relationship Id="rId4" Type="http://schemas.openxmlformats.org/officeDocument/2006/relationships/hyperlink" Target="https://gpsjam.org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image" Target="../media/Slide-1-image-1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Slide-1-image-1.jpeg"/><Relationship Id="rId4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-2-1.jp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4" Type="http://schemas.openxmlformats.org/officeDocument/2006/relationships/hyperlink" Target="https://www.sirgaschile.cl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Slide-7-image-1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image" Target="../media/Slide-7-image-1.jpe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image" Target="../media/Slide-7-image-1.jpe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SINCRÓNICA 1 · PREPARACIÓN EVALUACIÓN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Misión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2316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Horizonte Sur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Geometría satelital, fuentes de error y la decisión GNSS que tendrás que defender</a:t>
            </a:r>
            <a:endParaRPr lang="en-US" sz="1800" dirty="0"/>
          </a:p>
        </p:txBody>
      </p:sp>
      <p:pic>
        <p:nvPicPr>
          <p:cNvPr id="6" name="Image 0" descr="/home/claude/img/logo_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846320"/>
            <a:ext cx="850392" cy="1097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49377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Ian Arias Carrasco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 · iarias4@santotomas.cl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Lunes 05/10 · 19:00 h · Teams</a:t>
            </a:r>
            <a:endParaRPr lang="en-US" sz="1400" dirty="0"/>
          </a:p>
        </p:txBody>
      </p:sp>
      <p:sp>
        <p:nvSpPr>
          <p:cNvPr id="9" name="Text 0"/>
          <p:cNvSpPr/>
          <p:nvPr>
            <p:ph idx="102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9FB5A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QUIÉN TE ACOMPAÑA EN ESTA MISIÓN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Ian Arias Carrasco</a:t>
            </a:r>
          </a:p>
        </p:txBody>
      </p:sp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920240"/>
            <a:ext cx="4023360" cy="22631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192024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84832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5AA9FF"/>
                </a:solidFill>
                <a:latin typeface="Cambria"/>
              </a:rPr>
              <a:t>Geomática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42032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DCEBE5"/>
                </a:solidFill>
                <a:latin typeface="Arial"/>
              </a:rPr>
              <a:t>Más de 12 años en análisis geoespacial e Infraestructura de Datos Espaciales.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92024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2084832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4FD1A5"/>
                </a:solidFill>
                <a:latin typeface="Cambria"/>
              </a:rPr>
              <a:t>Fotogrametría y RPAS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542032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DCEBE5"/>
                </a:solidFill>
                <a:latin typeface="Arial"/>
              </a:rPr>
              <a:t>Cartografía aerofotogramétrica y vuelo de drones con licencia DGAC.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044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685032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F2B33D"/>
                </a:solidFill>
                <a:latin typeface="Cambria"/>
              </a:rPr>
              <a:t>Docencia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142232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DCEBE5"/>
                </a:solidFill>
                <a:latin typeface="Arial"/>
              </a:rPr>
              <a:t>Formación técnico-profesional en SIG, fotogrametría y topografía.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352044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3685032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E8705C"/>
                </a:solidFill>
                <a:latin typeface="Cambria"/>
              </a:rPr>
              <a:t>Hoy estudio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142232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DCEBE5"/>
                </a:solidFill>
                <a:latin typeface="Arial"/>
              </a:rPr>
              <a:t>Magíster en Educación y Magíster en Estadística y Data Science.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57800"/>
            <a:ext cx="10927080" cy="685800"/>
          </a:xfrm>
          <a:prstGeom prst="roundRect">
            <a:avLst>
              <a:gd name="adj" fmla="val 6000"/>
            </a:avLst>
          </a:prstGeom>
          <a:solidFill>
            <a:srgbClr val="004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25780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 i="0">
                <a:solidFill>
                  <a:srgbClr val="F2B33D"/>
                </a:solidFill>
                <a:latin typeface="Arial"/>
              </a:rPr>
              <a:t>Tu turno en el chat: </a:t>
            </a:r>
            <a:r>
              <a:rPr sz="1700" b="0" i="0">
                <a:solidFill>
                  <a:srgbClr val="FFFFFF"/>
                </a:solidFill>
                <a:latin typeface="Arial"/>
              </a:rPr>
              <a:t>tu nombre, tu comuna y la última vez que un GPS te salvó (o te perdió).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BITÁCORA DE VUELO · 90 MINUTOS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La ruta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520440" cy="109728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7568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F2B33D"/>
                </a:solidFill>
                <a:latin typeface="Arial"/>
              </a:rPr>
              <a:t>0–8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203911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Cambria"/>
              </a:rPr>
              <a:t>Despegue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DCEBE5"/>
                </a:solidFill>
                <a:latin typeface="Arial"/>
              </a:rPr>
              <a:t>Bienvenida y activación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520440" cy="109728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7568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F2B33D"/>
                </a:solidFill>
                <a:latin typeface="Arial"/>
              </a:rPr>
              <a:t>8–20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03911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Cambria"/>
              </a:rPr>
              <a:t>GNSS ≠ GPS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14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DCEBE5"/>
                </a:solidFill>
                <a:latin typeface="Arial"/>
              </a:rPr>
              <a:t>Datos, historia y quiz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920240"/>
            <a:ext cx="3520440" cy="109728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207568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F2B33D"/>
                </a:solidFill>
                <a:latin typeface="Arial"/>
              </a:rPr>
              <a:t>20–30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599" y="203911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Cambria"/>
              </a:rPr>
              <a:t>Constelaciones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514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DCEBE5"/>
                </a:solidFill>
                <a:latin typeface="Arial"/>
              </a:rPr>
              <a:t>Quién opera qué y demos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3520440" cy="109728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5584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F2B33D"/>
                </a:solidFill>
                <a:latin typeface="Arial"/>
              </a:rPr>
              <a:t>30–35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31927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Cambria"/>
              </a:rPr>
              <a:t>Pausa activa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DCEBE5"/>
                </a:solidFill>
                <a:latin typeface="Arial"/>
              </a:rPr>
              <a:t>Mira tu propio cielo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200400"/>
            <a:ext cx="3520440" cy="109728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35584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F2B33D"/>
                </a:solidFill>
                <a:latin typeface="Arial"/>
              </a:rPr>
              <a:t>35–47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31927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Cambria"/>
              </a:rPr>
              <a:t>Geometría y DOP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94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DCEBE5"/>
                </a:solidFill>
                <a:latin typeface="Arial"/>
              </a:rPr>
              <a:t>Sky plots y GNSS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200400"/>
            <a:ext cx="3520440" cy="109728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19" y="335584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F2B33D"/>
                </a:solidFill>
                <a:latin typeface="Arial"/>
              </a:rPr>
              <a:t>47–55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599" y="331927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Cambria"/>
              </a:rPr>
              <a:t>Errores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3794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DCEBE5"/>
                </a:solidFill>
                <a:latin typeface="Arial"/>
              </a:rPr>
              <a:t>Del reloj al jamming · quiz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480560"/>
            <a:ext cx="3520440" cy="1097280"/>
          </a:xfrm>
          <a:prstGeom prst="roundRect">
            <a:avLst>
              <a:gd name="adj" fmla="val 6000"/>
            </a:avLst>
          </a:prstGeom>
          <a:solidFill>
            <a:srgbClr val="2A2210"/>
          </a:solidFill>
          <a:ln w="12700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3600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F2B33D"/>
                </a:solidFill>
                <a:latin typeface="Arial"/>
              </a:rPr>
              <a:t>55–67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459943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Cambria"/>
              </a:rPr>
              <a:t>¿Dónde queda el punto?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074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DCEBE5"/>
                </a:solidFill>
                <a:latin typeface="Arial"/>
              </a:rPr>
              <a:t>Datum, husos de Chile · quiz 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4480560"/>
            <a:ext cx="3520440" cy="109728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63600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F2B33D"/>
                </a:solidFill>
                <a:latin typeface="Arial"/>
              </a:rPr>
              <a:t>67–82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59943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Cambria"/>
              </a:rPr>
              <a:t>Misión Horizonte Sur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074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DCEBE5"/>
                </a:solidFill>
                <a:latin typeface="Arial"/>
              </a:rPr>
              <a:t>Caso E1 y ensayo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19" y="4480560"/>
            <a:ext cx="3520440" cy="109728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19" y="463600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F2B33D"/>
                </a:solidFill>
                <a:latin typeface="Arial"/>
              </a:rPr>
              <a:t>82–90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599" y="459943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Cambria"/>
              </a:rPr>
              <a:t>Aterrizaje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19" y="5074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DCEBE5"/>
                </a:solidFill>
                <a:latin typeface="Arial"/>
              </a:rPr>
              <a:t>Informe, rúbrica y ticket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7607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1">
                <a:solidFill>
                  <a:srgbClr val="9FB5AE"/>
                </a:solidFill>
                <a:latin typeface="Arial"/>
              </a:rPr>
              <a:t>Reglas de vuelo: cámara opcional · chat siempre abierto · la sesión se graba · ingresa con tu correo institucional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ACTIVACIÓN · ENCUESTA EN TEAMS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¿Cuántos satélites usa tu celular ahora mismo?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2E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313432"/>
            <a:ext cx="685800" cy="685800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6120F"/>
                </a:solidFill>
                <a:latin typeface="Cambria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0312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Arial"/>
              </a:rPr>
              <a:t>4 o menos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659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2E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313432"/>
            <a:ext cx="685800" cy="685800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31343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6120F"/>
                </a:solidFill>
                <a:latin typeface="Cambria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10312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Arial"/>
              </a:rPr>
              <a:t>Entre 5 y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2E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913632"/>
            <a:ext cx="685800" cy="685800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1363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6120F"/>
                </a:solidFill>
                <a:latin typeface="Cambria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Arial"/>
              </a:rPr>
              <a:t>Entre 13 y 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5661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2E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913632"/>
            <a:ext cx="685800" cy="685800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1363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6120F"/>
                </a:solidFill>
                <a:latin typeface="Cambria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70332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Arial"/>
              </a:rPr>
              <a:t>Más de 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49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 i="1">
                <a:solidFill>
                  <a:srgbClr val="F2B33D"/>
                </a:solidFill>
                <a:latin typeface="Arial"/>
              </a:rPr>
              <a:t>Vota en la encuesta del chat. Lo comprobamos en la pausa activa.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DATOS QUE NO TE CUENTA EL CELULAR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Navegar con satélites es una hazaña de precisión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06120F">
              <a:alpha val="80000"/>
            </a:srgbClr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0" i="0">
                <a:solidFill>
                  <a:srgbClr val="5AA9FF"/>
                </a:solidFill>
                <a:latin typeface="Cambria"/>
              </a:rPr>
              <a:t>30 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00400"/>
            <a:ext cx="22402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DCEBE5"/>
                </a:solidFill>
                <a:latin typeface="Arial"/>
              </a:rPr>
              <a:t>de error por cada nanosegundo de desfase del reloj: la señal viaja a la velocidad de la luz.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06120F">
              <a:alpha val="80000"/>
            </a:srgbClr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1488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0" i="0">
                <a:solidFill>
                  <a:srgbClr val="E8705C"/>
                </a:solidFill>
                <a:latin typeface="Cambria"/>
              </a:rPr>
              <a:t>38 µs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200400"/>
            <a:ext cx="22402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DCEBE5"/>
                </a:solidFill>
                <a:latin typeface="Arial"/>
              </a:rPr>
              <a:t>por día se adelantan los relojes GPS por relatividad. Sin corregir, el error crecería unos 11 km diarios.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06120F">
              <a:alpha val="80000"/>
            </a:srgbClr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500" b="0" i="0">
                <a:solidFill>
                  <a:srgbClr val="4FD1A5"/>
                </a:solidFill>
                <a:latin typeface="Cambria"/>
              </a:rPr>
              <a:t>14 000 km/h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22402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DCEBE5"/>
                </a:solidFill>
                <a:latin typeface="Arial"/>
              </a:rPr>
              <a:t>velocidad aproximada de un satélite GPS: dos vueltas a la Tierra por día sidéreo.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9202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06120F">
              <a:alpha val="80000"/>
            </a:srgbClr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21488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500" b="0" i="0">
                <a:solidFill>
                  <a:srgbClr val="F2B33D"/>
                </a:solidFill>
                <a:latin typeface="Cambria"/>
              </a:rPr>
              <a:t>−158,5 dBW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3200400"/>
            <a:ext cx="22402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DCEBE5"/>
                </a:solidFill>
                <a:latin typeface="Arial"/>
              </a:rPr>
              <a:t>potencia mínima de la señal L1 C/A en el suelo: más débil que el ruido de fondo.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1">
                <a:solidFill>
                  <a:srgbClr val="9FB5AE"/>
                </a:solidFill>
                <a:latin typeface="Arial"/>
              </a:rPr>
              <a:t>Fuentes: Ashby (2003); IS-GPS-200 (Tabla 3-V); GPS.gov. Velocidad y 11 km: cálculo propio a partir de esos datos.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CONCEPTO BASE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GPS es un GNSS. No todo GNSS es GPS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4206240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212080" y="1920240"/>
            <a:ext cx="1463040" cy="64008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192024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2B33D"/>
                </a:solidFill>
                <a:latin typeface="Arial"/>
              </a:rPr>
              <a:t>GPS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920240"/>
            <a:ext cx="1463040" cy="64008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E87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92024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E8705C"/>
                </a:solidFill>
                <a:latin typeface="Arial"/>
              </a:rPr>
              <a:t>GLONASS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920240"/>
            <a:ext cx="1463040" cy="64008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5AA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92024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5AA9FF"/>
                </a:solidFill>
                <a:latin typeface="Arial"/>
              </a:rPr>
              <a:t>Galileo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12680" y="1920240"/>
            <a:ext cx="1463040" cy="64008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4FD1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192024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4FD1A5"/>
                </a:solidFill>
                <a:latin typeface="Arial"/>
              </a:rPr>
              <a:t>BeiDou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834640"/>
            <a:ext cx="63093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GNSS</a:t>
            </a:r>
            <a:r>
              <a:rPr sz="1700" b="0" i="0">
                <a:solidFill>
                  <a:srgbClr val="DCEBE5"/>
                </a:solidFill>
                <a:latin typeface="Arial"/>
              </a:rPr>
              <a:t> (Global Navigation Satellite System) es el término genérico: cualquier constelación que entrega posición, navegación y tiempo (PNT).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GPS</a:t>
            </a:r>
            <a:r>
              <a:rPr sz="1700" b="0" i="0">
                <a:solidFill>
                  <a:srgbClr val="DCEBE5"/>
                </a:solidFill>
                <a:latin typeface="Arial"/>
              </a:rPr>
              <a:t> es el sistema de Estados Unidos. Le decimos «GPS» a todo porque fue el primero en operar y abrirse gratis a civiles.</a:t>
            </a:r>
          </a:p>
          <a:p>
            <a:r>
              <a:rPr sz="1700" b="0" i="1">
                <a:solidFill>
                  <a:srgbClr val="F2B33D"/>
                </a:solidFill>
                <a:latin typeface="Arial"/>
              </a:rPr>
              <a:t>Es como decir «Gillette» a cualquier máquina de afeitar.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CÓMO LLEGAMOS AQUÍ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Del uso militar a la red geodésica chilena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743200"/>
            <a:ext cx="10789920" cy="0"/>
          </a:xfrm>
          <a:prstGeom prst="line">
            <a:avLst/>
          </a:prstGeom>
          <a:ln w="25400">
            <a:solidFill>
              <a:srgbClr val="5F73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" y="4572000"/>
            <a:ext cx="10789920" cy="0"/>
          </a:xfrm>
          <a:prstGeom prst="line">
            <a:avLst/>
          </a:prstGeom>
          <a:ln w="25400">
            <a:solidFill>
              <a:srgbClr val="5F73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2624328"/>
            <a:ext cx="237744" cy="237744"/>
          </a:xfrm>
          <a:prstGeom prst="ellipse">
            <a:avLst/>
          </a:prstGeom>
          <a:solidFill>
            <a:srgbClr val="5A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0" i="0">
                <a:solidFill>
                  <a:srgbClr val="5AA9FF"/>
                </a:solidFill>
                <a:latin typeface="Cambria"/>
              </a:rPr>
              <a:t>1978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DCEBE5"/>
                </a:solidFill>
                <a:latin typeface="Arial"/>
              </a:rPr>
              <a:t>Primer satélite NAVSTAR (GPS Block I)</a:t>
            </a:r>
          </a:p>
        </p:txBody>
      </p:sp>
      <p:sp>
        <p:nvSpPr>
          <p:cNvPr id="11" name="Oval 10"/>
          <p:cNvSpPr/>
          <p:nvPr/>
        </p:nvSpPr>
        <p:spPr>
          <a:xfrm>
            <a:off x="2971800" y="2624328"/>
            <a:ext cx="237744" cy="237744"/>
          </a:xfrm>
          <a:prstGeom prst="ellipse">
            <a:avLst/>
          </a:prstGeom>
          <a:solidFill>
            <a:srgbClr val="5A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0574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0" i="0">
                <a:solidFill>
                  <a:srgbClr val="5AA9FF"/>
                </a:solidFill>
                <a:latin typeface="Cambria"/>
              </a:rPr>
              <a:t>1983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97180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DCEBE5"/>
                </a:solidFill>
                <a:latin typeface="Arial"/>
              </a:rPr>
              <a:t>KAL 007: EE. UU. anuncia uso civil gratuito</a:t>
            </a:r>
          </a:p>
        </p:txBody>
      </p:sp>
      <p:sp>
        <p:nvSpPr>
          <p:cNvPr id="14" name="Oval 13"/>
          <p:cNvSpPr/>
          <p:nvPr/>
        </p:nvSpPr>
        <p:spPr>
          <a:xfrm>
            <a:off x="5212080" y="2624328"/>
            <a:ext cx="237744" cy="237744"/>
          </a:xfrm>
          <a:prstGeom prst="ellipse">
            <a:avLst/>
          </a:prstGeom>
          <a:solidFill>
            <a:srgbClr val="5A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20574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0" i="0">
                <a:solidFill>
                  <a:srgbClr val="5AA9FF"/>
                </a:solidFill>
                <a:latin typeface="Cambria"/>
              </a:rPr>
              <a:t>1995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97180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DCEBE5"/>
                </a:solidFill>
                <a:latin typeface="Arial"/>
              </a:rPr>
              <a:t>GPS alcanza plena capacidad operacional</a:t>
            </a:r>
          </a:p>
        </p:txBody>
      </p:sp>
      <p:sp>
        <p:nvSpPr>
          <p:cNvPr id="17" name="Oval 16"/>
          <p:cNvSpPr/>
          <p:nvPr/>
        </p:nvSpPr>
        <p:spPr>
          <a:xfrm>
            <a:off x="7452360" y="2624328"/>
            <a:ext cx="237744" cy="237744"/>
          </a:xfrm>
          <a:prstGeom prst="ellipse">
            <a:avLst/>
          </a:prstGeom>
          <a:solidFill>
            <a:srgbClr val="5A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20574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0" i="0">
                <a:solidFill>
                  <a:srgbClr val="5AA9FF"/>
                </a:solidFill>
                <a:latin typeface="Cambria"/>
              </a:rPr>
              <a:t>2000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97180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DCEBE5"/>
                </a:solidFill>
                <a:latin typeface="Arial"/>
              </a:rPr>
              <a:t>Se apaga la Disponibilidad Selectiva</a:t>
            </a:r>
          </a:p>
        </p:txBody>
      </p:sp>
      <p:sp>
        <p:nvSpPr>
          <p:cNvPr id="20" name="Oval 19"/>
          <p:cNvSpPr/>
          <p:nvPr/>
        </p:nvSpPr>
        <p:spPr>
          <a:xfrm>
            <a:off x="9692640" y="2624328"/>
            <a:ext cx="237744" cy="23774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0574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0" i="0">
                <a:solidFill>
                  <a:srgbClr val="F2B33D"/>
                </a:solidFill>
                <a:latin typeface="Cambria"/>
              </a:rPr>
              <a:t>2003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97180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DCEBE5"/>
                </a:solidFill>
                <a:latin typeface="Arial"/>
              </a:rPr>
              <a:t>Chile oficializa SIRGAS (IGM)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453128"/>
            <a:ext cx="237744" cy="23774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862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0" i="0">
                <a:solidFill>
                  <a:srgbClr val="F2B33D"/>
                </a:solidFill>
                <a:latin typeface="Cambria"/>
              </a:rPr>
              <a:t>2010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0060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DCEBE5"/>
                </a:solidFill>
                <a:latin typeface="Arial"/>
              </a:rPr>
              <a:t>Terremoto del Maule: Chile «se mueve» metros</a:t>
            </a:r>
          </a:p>
        </p:txBody>
      </p:sp>
      <p:sp>
        <p:nvSpPr>
          <p:cNvPr id="26" name="Oval 25"/>
          <p:cNvSpPr/>
          <p:nvPr/>
        </p:nvSpPr>
        <p:spPr>
          <a:xfrm>
            <a:off x="2971800" y="4453128"/>
            <a:ext cx="237744" cy="237744"/>
          </a:xfrm>
          <a:prstGeom prst="ellipse">
            <a:avLst/>
          </a:prstGeom>
          <a:solidFill>
            <a:srgbClr val="5A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1800" y="38862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0" i="0">
                <a:solidFill>
                  <a:srgbClr val="5AA9FF"/>
                </a:solidFill>
                <a:latin typeface="Cambria"/>
              </a:rPr>
              <a:t>2011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0060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DCEBE5"/>
                </a:solidFill>
                <a:latin typeface="Arial"/>
              </a:rPr>
              <a:t>GLONASS recupera su constelación completa</a:t>
            </a:r>
          </a:p>
        </p:txBody>
      </p:sp>
      <p:sp>
        <p:nvSpPr>
          <p:cNvPr id="29" name="Oval 28"/>
          <p:cNvSpPr/>
          <p:nvPr/>
        </p:nvSpPr>
        <p:spPr>
          <a:xfrm>
            <a:off x="5212080" y="4453128"/>
            <a:ext cx="237744" cy="237744"/>
          </a:xfrm>
          <a:prstGeom prst="ellipse">
            <a:avLst/>
          </a:prstGeom>
          <a:solidFill>
            <a:srgbClr val="5A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38862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0" i="0">
                <a:solidFill>
                  <a:srgbClr val="5AA9FF"/>
                </a:solidFill>
                <a:latin typeface="Cambria"/>
              </a:rPr>
              <a:t>2020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80060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DCEBE5"/>
                </a:solidFill>
                <a:latin typeface="Arial"/>
              </a:rPr>
              <a:t>BeiDou-3 completa su constelación global</a:t>
            </a:r>
          </a:p>
        </p:txBody>
      </p:sp>
      <p:sp>
        <p:nvSpPr>
          <p:cNvPr id="32" name="Oval 31"/>
          <p:cNvSpPr/>
          <p:nvPr/>
        </p:nvSpPr>
        <p:spPr>
          <a:xfrm>
            <a:off x="7452360" y="4453128"/>
            <a:ext cx="237744" cy="23774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60" y="38862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0" i="0">
                <a:solidFill>
                  <a:srgbClr val="F2B33D"/>
                </a:solidFill>
                <a:latin typeface="Cambria"/>
              </a:rPr>
              <a:t>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480060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DCEBE5"/>
                </a:solidFill>
                <a:latin typeface="Arial"/>
              </a:rPr>
              <a:t>Galileo OSNMA (24-07) y SIRGAS-Chile 2025.0</a:t>
            </a:r>
          </a:p>
        </p:txBody>
      </p:sp>
      <p:sp>
        <p:nvSpPr>
          <p:cNvPr id="35" name="Oval 34"/>
          <p:cNvSpPr/>
          <p:nvPr/>
        </p:nvSpPr>
        <p:spPr>
          <a:xfrm>
            <a:off x="9692640" y="4453128"/>
            <a:ext cx="237744" cy="237744"/>
          </a:xfrm>
          <a:prstGeom prst="ellipse">
            <a:avLst/>
          </a:prstGeom>
          <a:solidFill>
            <a:srgbClr val="5A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38862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0" i="0">
                <a:solidFill>
                  <a:srgbClr val="5AA9FF"/>
                </a:solidFill>
                <a:latin typeface="Cambria"/>
              </a:rPr>
              <a:t>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480060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DCEBE5"/>
                </a:solidFill>
                <a:latin typeface="Arial"/>
              </a:rPr>
              <a:t>GPS III SV10 (21-04) cierra la serie GPS III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98932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1">
                <a:solidFill>
                  <a:srgbClr val="9FB5AE"/>
                </a:solidFill>
                <a:latin typeface="Arial"/>
              </a:rPr>
              <a:t>Fuentes: ESA Navipedia; GPS.gov; IGM (2025); GSC (2025); Lockheed Martin (2026).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QUIZ 1 · POLLS DE TEAMS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¿Cuál afirmación es correcta?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2E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313432"/>
            <a:ext cx="685800" cy="685800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6120F"/>
                </a:solidFill>
                <a:latin typeface="Cambria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0312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Arial"/>
              </a:rPr>
              <a:t>GPS y GNSS son sinónimos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659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2E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313432"/>
            <a:ext cx="685800" cy="685800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31343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6120F"/>
                </a:solidFill>
                <a:latin typeface="Cambria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10312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Arial"/>
              </a:rPr>
              <a:t>GPS es un GNSS operado por Estados Unidos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2E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913632"/>
            <a:ext cx="685800" cy="685800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1363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6120F"/>
                </a:solidFill>
                <a:latin typeface="Cambria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Arial"/>
              </a:rPr>
              <a:t>GNSS es el sistema europeo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5661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2E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913632"/>
            <a:ext cx="685800" cy="685800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1363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6120F"/>
                </a:solidFill>
                <a:latin typeface="Cambria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70332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Arial"/>
              </a:rPr>
              <a:t>GNSS solo funciona con internet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49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 i="1">
                <a:solidFill>
                  <a:srgbClr val="F2B33D"/>
                </a:solidFill>
                <a:latin typeface="Arial"/>
              </a:rPr>
              <a:t>Segunda pregunta en Polls: ¿quién opera Galileo?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MISMO, SOBRE TU CABEZA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receptor escucha a cuatro constelaciones</a:t>
            </a:r>
            <a:endParaRPr lang="en-US" sz="3400" dirty="0"/>
          </a:p>
        </p:txBody>
      </p:sp>
      <p:pic>
        <p:nvPicPr>
          <p:cNvPr id="4" name="Image 0" descr="/home/claude/img/const_GPS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2606040" cy="2606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572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983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Unidos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3035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planos · 55°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altitud ≈ 20 200 km</a:t>
            </a:r>
            <a:endParaRPr lang="en-US" sz="1300" dirty="0"/>
          </a:p>
        </p:txBody>
      </p:sp>
      <p:pic>
        <p:nvPicPr>
          <p:cNvPr id="8" name="Image 1" descr="/home/claude/img/const_GLONASS_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874520"/>
            <a:ext cx="2606040" cy="2606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29000" y="4572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7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GLONASS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3429000" y="4983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Rusia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3429000" y="53035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planos · 64,8°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altitud ≈ 19 100 km</a:t>
            </a:r>
            <a:endParaRPr lang="en-US" sz="1300" dirty="0"/>
          </a:p>
        </p:txBody>
      </p:sp>
      <p:pic>
        <p:nvPicPr>
          <p:cNvPr id="12" name="Image 2" descr="/home/claude/img/const_Galileo_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74520"/>
            <a:ext cx="2606040" cy="2606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17920" y="4572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AA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Galileo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6217920" y="4983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Unión Europea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217920" y="53035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planos · 56°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altitud ≈ 23 222 km</a:t>
            </a:r>
            <a:endParaRPr lang="en-US" sz="1300" dirty="0"/>
          </a:p>
        </p:txBody>
      </p:sp>
      <p:pic>
        <p:nvPicPr>
          <p:cNvPr id="16" name="Image 3" descr="/home/claude/img/const_BeiDou_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874520"/>
            <a:ext cx="2606040" cy="2606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006840" y="4572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FD1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BeiDou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9006840" y="4983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9006840" y="53035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planos MEO · 55°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altitud ≈ 21 528 km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nominal de la órbita media (MEO). BeiDou suma además satélites GEO e IGSO. Fuente: ESA Navipedia.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9FB5A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QUIÉN OPERA QUÉ · 5 DE OCTUBRE DE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Cuatro constelaciones globales, cuatro potencias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74519"/>
          <a:ext cx="11064240" cy="283464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280160"/>
                <a:gridCol w="2103120"/>
                <a:gridCol w="3291840"/>
                <a:gridCol w="1463040"/>
                <a:gridCol w="822960"/>
                <a:gridCol w="914400"/>
                <a:gridCol w="118872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Sistema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Operador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Satélites (estado)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Altitud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Incl.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Planos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Período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B33D"/>
                          </a:solidFill>
                          <a:latin typeface="Arial"/>
                        </a:rPr>
                        <a:t>GPS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EE. UU. · U.S. Space Force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32 en tabla · 30 utilizables (NAVCEN, 05-10-2026)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≈ 20 200 km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55°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11 h 58 min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705C"/>
                          </a:solidFill>
                          <a:latin typeface="Arial"/>
                        </a:rPr>
                        <a:t>GLONASS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Rusia · Roscosmos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Nominal 24 · revisa la cifra del día en el IAC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19 100 km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64,8°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11 h 16 min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AA9FF"/>
                          </a:solidFill>
                          <a:latin typeface="Arial"/>
                        </a:rPr>
                        <a:t>Galileo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UE · EUSPA / ESA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28 utilizables · 4 no utilizables (GSC)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23 222 km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56°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14 h 05 min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D1A5"/>
                          </a:solidFill>
                          <a:latin typeface="Arial"/>
                        </a:rPr>
                        <a:t>BeiDou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China · CSNO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≈ 50 en órbita (CSNO, mar-abr 2026); nominal 24 MEO + 3 IGSO + 3 GEO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21 528 km (MEO)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55°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3 (MEO)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≈ 12 h 53 min*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F2B33D"/>
                </a:solidFill>
                <a:latin typeface="Arial"/>
              </a:rPr>
              <a:t>Las cifras cambian: revisa los estados oficiales el mismo día. *Período de BeiDou calculado con la 3.ª ley de Kepler.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1">
                <a:solidFill>
                  <a:srgbClr val="9FB5AE"/>
                </a:solidFill>
                <a:latin typeface="Arial"/>
              </a:rPr>
              <a:t>Fuentes: NAVCEN (2026); IAC (2026); European GNSS Service Centre (2026); CSNO (2026); ESA Navipedia (s. f.).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¿Y DESDE CHILE?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Lo que sí te sirve a 33° S y lo que 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2176272"/>
            <a:ext cx="1316736" cy="274320"/>
          </a:xfrm>
          <a:prstGeom prst="roundRect">
            <a:avLst>
              <a:gd name="adj" fmla="val 50000"/>
            </a:avLst>
          </a:prstGeom>
          <a:solidFill>
            <a:srgbClr val="E87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76272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NO APORTA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87752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E8705C"/>
                </a:solidFill>
                <a:latin typeface="Cambria"/>
              </a:rPr>
              <a:t>NavIC · India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44952"/>
            <a:ext cx="2240280" cy="2423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DCEBE5"/>
                </a:solidFill>
                <a:latin typeface="Arial"/>
              </a:rPr>
              <a:t>Sistema regional sobre India: no visible desde Chile.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01168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11880" y="2176272"/>
            <a:ext cx="1316736" cy="274320"/>
          </a:xfrm>
          <a:prstGeom prst="roundRect">
            <a:avLst>
              <a:gd name="adj" fmla="val 50000"/>
            </a:avLst>
          </a:prstGeom>
          <a:solidFill>
            <a:srgbClr val="E87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176272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NO APORTA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587752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E8705C"/>
                </a:solidFill>
                <a:latin typeface="Cambria"/>
              </a:rPr>
              <a:t>QZSS · Japón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044952"/>
            <a:ext cx="2240280" cy="2423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DCEBE5"/>
                </a:solidFill>
                <a:latin typeface="Arial"/>
              </a:rPr>
              <a:t>Órbitas centradas en Asia-Oceanía: desde Santiago queda bajo el horizonte o muy bajo.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2176272"/>
            <a:ext cx="1719072" cy="274320"/>
          </a:xfrm>
          <a:prstGeom prst="roundRect">
            <a:avLst>
              <a:gd name="adj" fmla="val 50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176272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6120F"/>
                </a:solidFill>
                <a:latin typeface="Arial"/>
              </a:rPr>
              <a:t>NO DISPONIBLE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87752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F2B33D"/>
                </a:solidFill>
                <a:latin typeface="Cambria"/>
              </a:rPr>
              <a:t>SBAS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44952"/>
            <a:ext cx="2240280" cy="2423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DCEBE5"/>
                </a:solidFill>
                <a:latin typeface="Arial"/>
              </a:rPr>
              <a:t>Sudamérica no tiene un SBAS operativo propio; solo estudios (SACCSA).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39" y="201168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9719" y="2176272"/>
            <a:ext cx="1316736" cy="274320"/>
          </a:xfrm>
          <a:prstGeom prst="roundRect">
            <a:avLst>
              <a:gd name="adj" fmla="val 50000"/>
            </a:avLst>
          </a:prstGeom>
          <a:solidFill>
            <a:srgbClr val="4FD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19" y="2176272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6120F"/>
                </a:solidFill>
                <a:latin typeface="Arial"/>
              </a:rPr>
              <a:t>SÍ APORTA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2587752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4FD1A5"/>
                </a:solidFill>
                <a:latin typeface="Cambria"/>
              </a:rPr>
              <a:t>CORS SIRGAS-Chile + RTK/PPP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3044952"/>
            <a:ext cx="2240280" cy="2423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DCEBE5"/>
                </a:solidFill>
                <a:latin typeface="Arial"/>
              </a:rPr>
              <a:t>Estaciones de referencia continua, RTK y PPP (como Galileo HAS).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DEMOS EN VIVO · COMPARTE PANTALLA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Seis páginas para ver el cielo y la red en tiempo real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2140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 i="0">
                <a:solidFill>
                  <a:srgbClr val="F2B33D"/>
                </a:solidFill>
                <a:latin typeface="Cambria"/>
                <a:hlinkClick r:id="rId3"/>
              </a:rPr>
              <a:t>satellitemap.space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DCEBE5"/>
                </a:solidFill>
                <a:latin typeface="Arial"/>
              </a:rPr>
              <a:t>Constelaciones en 3D: compara la inclinación de GLONASS con la de GPS.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2140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 i="0">
                <a:solidFill>
                  <a:srgbClr val="F2B33D"/>
                </a:solidFill>
                <a:latin typeface="Cambria"/>
                <a:hlinkClick r:id="rId4"/>
              </a:rPr>
              <a:t>NAVCEN · estado GPS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DCEBE5"/>
                </a:solidFill>
                <a:latin typeface="Arial"/>
              </a:rPr>
              <a:t>Estado oficial satélite por satélite y avisos NANU.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92024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212140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 i="0">
                <a:solidFill>
                  <a:srgbClr val="5AA9FF"/>
                </a:solidFill>
                <a:latin typeface="Cambria"/>
                <a:hlinkClick r:id="rId5"/>
              </a:rPr>
              <a:t>GSC · estado Galileo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2651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DCEBE5"/>
                </a:solidFill>
                <a:latin typeface="Arial"/>
              </a:rPr>
              <a:t>Satélites utilizables y no utilizables.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8620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8736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 i="0">
                <a:solidFill>
                  <a:srgbClr val="E8705C"/>
                </a:solidFill>
                <a:latin typeface="Cambria"/>
                <a:hlinkClick r:id="rId6"/>
              </a:rPr>
              <a:t>IAC · estado GLONASS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DCEBE5"/>
                </a:solidFill>
                <a:latin typeface="Arial"/>
              </a:rPr>
              <a:t>Lee la cifra del día de satélites operativos.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88620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08736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 i="0">
                <a:solidFill>
                  <a:srgbClr val="4FD1A5"/>
                </a:solidFill>
                <a:latin typeface="Cambria"/>
                <a:hlinkClick r:id="rId7"/>
              </a:rPr>
              <a:t>GNSS Planning Online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177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DCEBE5"/>
                </a:solidFill>
                <a:latin typeface="Arial"/>
              </a:rPr>
              <a:t>Sky plot y DOP para cualquier lugar y hora.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88620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408736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 i="0">
                <a:solidFill>
                  <a:srgbClr val="F2B33D"/>
                </a:solidFill>
                <a:latin typeface="Cambria"/>
                <a:hlinkClick r:id="rId8"/>
              </a:rPr>
              <a:t>SIRGAS-Chile · IGM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46177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DCEBE5"/>
                </a:solidFill>
                <a:latin typeface="Arial"/>
              </a:rPr>
              <a:t>Red CORS, certificados y Transformador de Datum.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PAUSA ACTIVA · 5 MINUTOS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Levántate, ve a la ventana y mira tu propio cielo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06120F">
              <a:alpha val="85000"/>
            </a:srgbClr>
          </a:solidFill>
          <a:ln w="12700">
            <a:solidFill>
              <a:srgbClr val="2E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94560"/>
            <a:ext cx="685800" cy="685800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6120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Cambria"/>
              </a:rPr>
              <a:t>Abre la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0" i="0">
                <a:solidFill>
                  <a:srgbClr val="DCEBE5"/>
                </a:solidFill>
                <a:latin typeface="Arial"/>
              </a:rPr>
              <a:t>Android: GPSTest (gratis, código abierto). iPhone: GNSS View (posiciones predichas).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06120F">
              <a:alpha val="85000"/>
            </a:srgbClr>
          </a:solidFill>
          <a:ln w="12700">
            <a:solidFill>
              <a:srgbClr val="2E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2194560"/>
            <a:ext cx="685800" cy="685800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1945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6120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063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Cambria"/>
              </a:rPr>
              <a:t>Busca cielo abierto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61188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0" i="0">
                <a:solidFill>
                  <a:srgbClr val="DCEBE5"/>
                </a:solidFill>
                <a:latin typeface="Arial"/>
              </a:rPr>
              <a:t>Ventana, balcón o patio. Espera un minuto a que fije posición.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96596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06120F">
              <a:alpha val="85000"/>
            </a:srgbClr>
          </a:solidFill>
          <a:ln w="12700">
            <a:solidFill>
              <a:srgbClr val="2E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2194560"/>
            <a:ext cx="685800" cy="685800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1945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6120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063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Cambria"/>
              </a:rPr>
              <a:t>Cuenta y comparte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61188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0" i="0">
                <a:solidFill>
                  <a:srgbClr val="DCEBE5"/>
                </a:solidFill>
                <a:latin typeface="Arial"/>
              </a:rPr>
              <a:t>En el chat: cuántos satélites ves por constelación y cuántos marca la app como usados («U»).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406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 i="0">
                <a:solidFill>
                  <a:srgbClr val="F2B33D"/>
                </a:solidFill>
                <a:latin typeface="Arial"/>
              </a:rPr>
              <a:t>¿Acertaste en la encuesta del inicio?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DETONANTE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Mismos 6 satélites. ¿Con cuál cielo medirías?</a:t>
            </a:r>
            <a:endParaRPr lang="en-US" sz="3400" dirty="0"/>
          </a:p>
        </p:txBody>
      </p:sp>
      <p:pic>
        <p:nvPicPr>
          <p:cNvPr id="4" name="Image 0" descr="/home/claude/img/sky_good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3794760" cy="3840480"/>
          </a:xfrm>
          <a:prstGeom prst="rect">
            <a:avLst/>
          </a:prstGeom>
        </p:spPr>
      </p:pic>
      <p:pic>
        <p:nvPicPr>
          <p:cNvPr id="5" name="Image 1" descr="/home/claude/img/sky_bad_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794760" cy="3840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2960" y="5715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CIELO A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029200" y="5715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CIELO B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9235440" y="219456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en el chat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 B, y una razón en una línea.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Pista: mira cómo se reparten en el cielo, no cuántos son.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9FB5A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RESPUESTA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 la geometría, no la cantidad</a:t>
            </a:r>
            <a:endParaRPr lang="en-US" sz="3400" dirty="0"/>
          </a:p>
        </p:txBody>
      </p:sp>
      <p:pic>
        <p:nvPicPr>
          <p:cNvPr id="4" name="Image 0" descr="/home/claude/img/sky_good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3017520" cy="3063240"/>
          </a:xfrm>
          <a:prstGeom prst="rect">
            <a:avLst/>
          </a:prstGeom>
        </p:spPr>
      </p:pic>
      <p:pic>
        <p:nvPicPr>
          <p:cNvPr id="5" name="Image 1" descr="/home/claude/img/sky_bad_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28800"/>
            <a:ext cx="3017520" cy="3063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977640" y="21945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PDOP</a:t>
            </a:r>
            <a:endParaRPr lang="en-US" sz="1400" dirty="0"/>
          </a:p>
          <a:p>
            <a:pPr indent="0" marL="0">
              <a:buNone/>
            </a:pPr>
            <a:r>
              <a:rPr lang="en-US" sz="72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9464040" y="21945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PDOP</a:t>
            </a:r>
            <a:endParaRPr lang="en-US" sz="1400" dirty="0"/>
          </a:p>
          <a:p>
            <a:pPr indent="0" marL="0">
              <a:buNone/>
            </a:pPr>
            <a:r>
              <a:rPr lang="en-US" sz="72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20,4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5074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Satélites repartidos: las líneas de posición se cruzan en ángulos amplios.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309360" y="50749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Satélites agrupados: las líneas se cruzan casi paralelas y la solución se vuelve inestable.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9FB5A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 1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DOP no es un error: es un amplificador</a:t>
            </a:r>
            <a:endParaRPr lang="en-US" sz="3400" dirty="0"/>
          </a:p>
        </p:txBody>
      </p:sp>
      <p:sp>
        <p:nvSpPr>
          <p:cNvPr id="4" name="formula"/>
          <p:cNvSpPr/>
          <p:nvPr/>
        </p:nvSpPr>
        <p:spPr>
          <a:xfrm>
            <a:off x="640080" y="1920240"/>
            <a:ext cx="566928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posición  ≈  </a:t>
            </a:r>
            <a:pPr algn="ctr" indent="0" marL="0">
              <a:buNone/>
            </a:pPr>
            <a:r>
              <a:rPr lang="en-US" sz="2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DOP</a:t>
            </a:r>
            <a:pPr algn="ctr" indent="0" marL="0">
              <a:buNone/>
            </a:pPr>
            <a:r>
              <a:rPr lang="en-US" sz="27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×  σ medición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204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error de medición se multiplica según la geometría. Con DOP 1 casi no crece; con DOP 5 se quintuplica.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5262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 1</a:t>
            </a:r>
            <a:endParaRPr lang="en-US" sz="1300" dirty="0"/>
          </a:p>
        </p:txBody>
      </p:sp>
      <p:sp>
        <p:nvSpPr>
          <p:cNvPr id="8" name="bar DOP 1"/>
          <p:cNvSpPr/>
          <p:nvPr/>
        </p:nvSpPr>
        <p:spPr>
          <a:xfrm>
            <a:off x="1783080" y="4553712"/>
            <a:ext cx="868680" cy="274320"/>
          </a:xfrm>
          <a:prstGeom prst="rect">
            <a:avLst/>
          </a:prstGeom>
          <a:solidFill>
            <a:srgbClr val="4FD1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49834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 2,5</a:t>
            </a:r>
            <a:endParaRPr lang="en-US" sz="1300" dirty="0"/>
          </a:p>
        </p:txBody>
      </p:sp>
      <p:sp>
        <p:nvSpPr>
          <p:cNvPr id="10" name="bar DOP 2,5"/>
          <p:cNvSpPr/>
          <p:nvPr/>
        </p:nvSpPr>
        <p:spPr>
          <a:xfrm>
            <a:off x="1783080" y="5010912"/>
            <a:ext cx="2171700" cy="274320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54406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 5</a:t>
            </a:r>
            <a:endParaRPr lang="en-US" sz="1300" dirty="0"/>
          </a:p>
        </p:txBody>
      </p:sp>
      <p:sp>
        <p:nvSpPr>
          <p:cNvPr id="12" name="bar DOP 5"/>
          <p:cNvSpPr/>
          <p:nvPr/>
        </p:nvSpPr>
        <p:spPr>
          <a:xfrm>
            <a:off x="1783080" y="5468112"/>
            <a:ext cx="4343400" cy="274320"/>
          </a:xfrm>
          <a:prstGeom prst="rect">
            <a:avLst/>
          </a:prstGeom>
          <a:solidFill>
            <a:srgbClr val="E8705C"/>
          </a:solidFill>
          <a:ln/>
        </p:spPr>
      </p:sp>
      <p:sp>
        <p:nvSpPr>
          <p:cNvPr id="13" name="hv HDOP"/>
          <p:cNvSpPr/>
          <p:nvPr/>
        </p:nvSpPr>
        <p:spPr>
          <a:xfrm>
            <a:off x="6858000" y="1920240"/>
            <a:ext cx="4663440" cy="11887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86600" y="2057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AA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HDOP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2029968"/>
            <a:ext cx="2743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Afecta Este y Norte: la planimetría.</a:t>
            </a:r>
            <a:endParaRPr lang="en-US" sz="1300" dirty="0"/>
          </a:p>
        </p:txBody>
      </p:sp>
      <p:sp>
        <p:nvSpPr>
          <p:cNvPr id="17" name="hv VDOP"/>
          <p:cNvSpPr/>
          <p:nvPr/>
        </p:nvSpPr>
        <p:spPr>
          <a:xfrm>
            <a:off x="6858000" y="3291840"/>
            <a:ext cx="4663440" cy="11887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86600" y="3429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7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VDOP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3950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3401568"/>
            <a:ext cx="2743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Afecta la altura. Suele ser mayor que el HDOP: todos los satélites están sobre el horizonte, ninguno bajo tus pies.</a:t>
            </a:r>
            <a:endParaRPr lang="en-US" sz="1300" dirty="0"/>
          </a:p>
        </p:txBody>
      </p:sp>
      <p:sp>
        <p:nvSpPr>
          <p:cNvPr id="21" name="hv PDOP"/>
          <p:cNvSpPr/>
          <p:nvPr/>
        </p:nvSpPr>
        <p:spPr>
          <a:xfrm>
            <a:off x="6858000" y="4663440"/>
            <a:ext cx="4663440" cy="11887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86600" y="4800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PDOP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5321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 3D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4773168"/>
            <a:ext cx="2743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 ambos componentes.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5F736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DEMO EN VIVO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GNSS Planning Online: el cielo de Santiago esta noche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084831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103120"/>
            <a:ext cx="548640" cy="548640"/>
          </a:xfrm>
          <a:prstGeom prst="ellipse">
            <a:avLst/>
          </a:prstGeom>
          <a:solidFill>
            <a:srgbClr val="004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03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78892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004136"/>
                </a:solidFill>
                <a:latin typeface="Cambria"/>
              </a:rPr>
              <a:t>Settings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46120"/>
            <a:ext cx="1783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14231F"/>
                </a:solidFill>
                <a:latin typeface="Arial"/>
              </a:rPr>
              <a:t>Lat −33,45° · Lon −70,66° · altura ≈ 570 m · 05/10/2026 19:00 · 12 h · UTC−3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920240"/>
            <a:ext cx="2084831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44952" y="2103120"/>
            <a:ext cx="548640" cy="548640"/>
          </a:xfrm>
          <a:prstGeom prst="ellipse">
            <a:avLst/>
          </a:prstGeom>
          <a:solidFill>
            <a:srgbClr val="004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2103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78892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004136"/>
                </a:solidFill>
                <a:latin typeface="Cambria"/>
              </a:rPr>
              <a:t>Máscara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3246120"/>
            <a:ext cx="1783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14231F"/>
                </a:solidFill>
                <a:latin typeface="Arial"/>
              </a:rPr>
              <a:t>10°. Luego súbela a 15° o más y mira el DOP.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920240"/>
            <a:ext cx="2084831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66944" y="2103120"/>
            <a:ext cx="548640" cy="548640"/>
          </a:xfrm>
          <a:prstGeom prst="ellipse">
            <a:avLst/>
          </a:prstGeom>
          <a:solidFill>
            <a:srgbClr val="004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66944" y="2103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44" y="278892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004136"/>
                </a:solidFill>
                <a:latin typeface="Cambria"/>
              </a:rPr>
              <a:t>Satellite Library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3246120"/>
            <a:ext cx="1783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14231F"/>
                </a:solidFill>
                <a:latin typeface="Arial"/>
              </a:rPr>
              <a:t>Solo GPS → Apply. Luego GPS + GLONASS. Luego las cuatro.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06056" y="1920240"/>
            <a:ext cx="2084831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88936" y="2103120"/>
            <a:ext cx="548640" cy="548640"/>
          </a:xfrm>
          <a:prstGeom prst="ellipse">
            <a:avLst/>
          </a:prstGeom>
          <a:solidFill>
            <a:srgbClr val="004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88936" y="2103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936" y="278892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004136"/>
                </a:solidFill>
                <a:latin typeface="Cambria"/>
              </a:rPr>
              <a:t>Gráficos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3246120"/>
            <a:ext cx="1783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14231F"/>
                </a:solidFill>
                <a:latin typeface="Arial"/>
              </a:rPr>
              <a:t>Number of Satellites y DOPs: anota el PDOP máximo y los picos.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8048" y="1920240"/>
            <a:ext cx="2084831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10928" y="2103120"/>
            <a:ext cx="548640" cy="548640"/>
          </a:xfrm>
          <a:prstGeom prst="ellipse">
            <a:avLst/>
          </a:prstGeom>
          <a:solidFill>
            <a:srgbClr val="004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10928" y="2103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278892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004136"/>
                </a:solidFill>
                <a:latin typeface="Cambria"/>
              </a:rPr>
              <a:t>SkyPlot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3246120"/>
            <a:ext cx="1783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14231F"/>
                </a:solidFill>
                <a:latin typeface="Arial"/>
              </a:rPr>
              <a:t>Mira el reparto por azimut y elevación.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04136"/>
                </a:solidFill>
                <a:latin typeface="Arial"/>
                <a:hlinkClick r:id="rId3"/>
              </a:rPr>
              <a:t>Abrir gnssplanning.com</a:t>
            </a:r>
            <a:r>
              <a:rPr sz="1500" b="0" i="0">
                <a:solidFill>
                  <a:srgbClr val="14231F"/>
                </a:solidFill>
                <a:latin typeface="Arial"/>
              </a:rPr>
              <a:t>  ·  ¿Cómo cambian los satélites y el PDOP al sumar constelaciones y subir la máscara?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dónde vienen los errores</a:t>
            </a:r>
            <a:endParaRPr lang="en-US" sz="3400" dirty="0"/>
          </a:p>
        </p:txBody>
      </p:sp>
      <p:pic>
        <p:nvPicPr>
          <p:cNvPr id="4" name="Image 0" descr="/home/claude/img/errores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4709160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1837944"/>
            <a:ext cx="237744" cy="237744"/>
          </a:xfrm>
          <a:prstGeom prst="ellipse">
            <a:avLst/>
          </a:prstGeom>
          <a:solidFill>
            <a:srgbClr val="F2B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80760" y="17830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SATÉLITE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2130552"/>
            <a:ext cx="5440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 y efemérides: pequeñas diferencias en el tiempo y en la órbita transmitida.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0" y="2916936"/>
            <a:ext cx="237744" cy="237744"/>
          </a:xfrm>
          <a:prstGeom prst="ellipse">
            <a:avLst/>
          </a:prstGeom>
          <a:solidFill>
            <a:srgbClr val="5AA9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80760" y="286207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CAMINO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3209544"/>
            <a:ext cx="5440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Ionosfera y troposfera retrasan la señal. La ionosfera depende de la frecuencia: por eso ayuda el receptor multifrecuencia.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669280" y="3995928"/>
            <a:ext cx="237744" cy="237744"/>
          </a:xfrm>
          <a:prstGeom prst="ellipse">
            <a:avLst/>
          </a:prstGeom>
          <a:solidFill>
            <a:srgbClr val="E8705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80760" y="39410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ENTORNO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080760" y="4288536"/>
            <a:ext cx="5440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Multitrayectoria: la señal rebota en muros, taludes o vehículos y llega tarde. Afecta también al centro de fase de la antena.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669280" y="5074920"/>
            <a:ext cx="237744" cy="237744"/>
          </a:xfrm>
          <a:prstGeom prst="ellipse">
            <a:avLst/>
          </a:prstGeom>
          <a:solidFill>
            <a:srgbClr val="4FD1A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80760" y="502005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D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GEOMETRÍA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080760" y="5367528"/>
            <a:ext cx="5440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obstrucciones no son un error por sí solas: bloquean satélites, dejan menos y más agrupados, y eso empeora el DOP.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9FB5A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LA AMENAZA INVISIBLE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Jamming y spoofing: cuando alguien ataca la señal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06120F">
              <a:alpha val="85000"/>
            </a:srgbClr>
          </a:solidFill>
          <a:ln w="12700">
            <a:solidFill>
              <a:srgbClr val="E87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 i="0">
                <a:solidFill>
                  <a:srgbClr val="E8705C"/>
                </a:solidFill>
                <a:latin typeface="Cambria"/>
              </a:rPr>
              <a:t>Jamming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0" i="0">
                <a:solidFill>
                  <a:srgbClr val="DCEBE5"/>
                </a:solidFill>
                <a:latin typeface="Arial"/>
              </a:rPr>
              <a:t>Ruido que tapa la señal. Como llega tan débil, un emisor pequeño basta para bloquearla.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06120F">
              <a:alpha val="85000"/>
            </a:srgbClr>
          </a:solidFill>
          <a:ln w="12700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 i="0">
                <a:solidFill>
                  <a:srgbClr val="F2B33D"/>
                </a:solidFill>
                <a:latin typeface="Cambria"/>
              </a:rPr>
              <a:t>Spoofing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0604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0" i="0">
                <a:solidFill>
                  <a:srgbClr val="DCEBE5"/>
                </a:solidFill>
                <a:latin typeface="Arial"/>
              </a:rPr>
              <a:t>Señales falsas que engañan al receptor sobre su posición o su hora.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06120F">
              <a:alpha val="85000"/>
            </a:srgbClr>
          </a:solidFill>
          <a:ln w="12700">
            <a:solidFill>
              <a:srgbClr val="5AA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 i="0">
                <a:solidFill>
                  <a:srgbClr val="5AA9FF"/>
                </a:solidFill>
                <a:latin typeface="Cambria"/>
              </a:rPr>
              <a:t>Mar Báltico,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0" i="0">
                <a:solidFill>
                  <a:srgbClr val="DCEBE5"/>
                </a:solidFill>
                <a:latin typeface="Arial"/>
              </a:rPr>
              <a:t>Trece países ribereños y del Mar del Norte, más Islandia, emitieron una advertencia conjunta por la interferencia GNSS.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65760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06120F">
              <a:alpha val="85000"/>
            </a:srgbClr>
          </a:solidFill>
          <a:ln w="12700">
            <a:solidFill>
              <a:srgbClr val="4FD1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84048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 i="0">
                <a:solidFill>
                  <a:srgbClr val="4FD1A5"/>
                </a:solidFill>
                <a:latin typeface="Cambria"/>
              </a:rPr>
              <a:t>La respuesta: OSNMA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34340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0" i="0">
                <a:solidFill>
                  <a:srgbClr val="DCEBE5"/>
                </a:solidFill>
                <a:latin typeface="Arial"/>
              </a:rPr>
              <a:t>Galileo autentica sus mensajes de navegación para civiles desde el 24-07-2025.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2B33D"/>
                </a:solidFill>
                <a:latin typeface="Arial"/>
              </a:rPr>
              <a:t>En vivo: </a:t>
            </a:r>
            <a:r>
              <a:rPr sz="1500" b="0" i="0">
                <a:solidFill>
                  <a:srgbClr val="FFFFFF"/>
                </a:solidFill>
                <a:latin typeface="Arial"/>
                <a:hlinkClick r:id="rId4"/>
              </a:rPr>
              <a:t>gpsjam.org</a:t>
            </a:r>
            <a:r>
              <a:rPr sz="1500" b="0" i="0">
                <a:solidFill>
                  <a:srgbClr val="FFFFFF"/>
                </a:solidFill>
                <a:latin typeface="Arial"/>
              </a:rPr>
              <a:t> · compara el Báltico con Sudamérica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QUIZ 2 · POLLS DE TEAMS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El DOP es…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2E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313432"/>
            <a:ext cx="685800" cy="685800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6120F"/>
                </a:solidFill>
                <a:latin typeface="Cambria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0312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Arial"/>
              </a:rPr>
              <a:t>Una fuente de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659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2E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313432"/>
            <a:ext cx="685800" cy="685800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31343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6120F"/>
                </a:solidFill>
                <a:latin typeface="Cambria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10312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Arial"/>
              </a:rPr>
              <a:t>Un indicador de cuánto la geometría amplifica los errores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2E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913632"/>
            <a:ext cx="685800" cy="685800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1363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6120F"/>
                </a:solidFill>
                <a:latin typeface="Cambria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Arial"/>
              </a:rPr>
              <a:t>La precisión final de la medición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5661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2E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913632"/>
            <a:ext cx="685800" cy="685800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1363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6120F"/>
                </a:solidFill>
                <a:latin typeface="Cambria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70332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Arial"/>
              </a:rPr>
              <a:t>Un tipo de señal del satélite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49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 i="1">
                <a:solidFill>
                  <a:srgbClr val="F2B33D"/>
                </a:solidFill>
                <a:latin typeface="Arial"/>
              </a:rPr>
              <a:t>Segunda pregunta en Polls: ¿cuánto error produce 1 ns de reloj?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BLOQUE NUEVO · 12 MINUTOS</a:t>
            </a:r>
          </a:p>
        </p:txBody>
      </p:sp>
      <p:pic>
        <p:nvPicPr>
          <p:cNvPr id="5" name="Picture 4" descr="globe_ch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0"/>
            <a:ext cx="6858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463040"/>
            <a:ext cx="5943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6200" b="0" i="0">
                <a:solidFill>
                  <a:srgbClr val="FFFFFF"/>
                </a:solidFill>
                <a:latin typeface="Cambria"/>
              </a:rPr>
              <a:t>¿Dónde queda</a:t>
            </a:r>
          </a:p>
          <a:p>
            <a:r>
              <a:rPr sz="6200" b="0" i="0">
                <a:solidFill>
                  <a:srgbClr val="F2B33D"/>
                </a:solidFill>
                <a:latin typeface="Cambria"/>
              </a:rPr>
              <a:t>el punto?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 i="0">
                <a:solidFill>
                  <a:srgbClr val="DCEBE5"/>
                </a:solidFill>
                <a:latin typeface="Arial"/>
              </a:rPr>
              <a:t>Datum, época, proyección y altura: las cuatro capas que todo informe GNSS debe declarar.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TRES PREGUNTAS DISTINTAS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¿Con qué mido, respecto de qué y cómo lo dibujo?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" y="2057400"/>
            <a:ext cx="14630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36118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2B33D"/>
                </a:solidFill>
                <a:latin typeface="Arial"/>
              </a:rPr>
              <a:t>¿CON QUÉ MIDO?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862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Cambria"/>
              </a:rPr>
              <a:t>Constelación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38912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DCEBE5"/>
                </a:solidFill>
                <a:latin typeface="Arial"/>
              </a:rPr>
              <a:t>GPS, GLONASS, Galileo, BeiDou. Es el instrumento.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E87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lobe_ch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00" y="2057400"/>
            <a:ext cx="146304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36118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E8705C"/>
                </a:solidFill>
                <a:latin typeface="Arial"/>
              </a:rPr>
              <a:t>¿RESPECTO DE QUÉ?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8862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Cambria"/>
              </a:rPr>
              <a:t>Datum + época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38912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DCEBE5"/>
                </a:solidFill>
                <a:latin typeface="Arial"/>
              </a:rPr>
              <a:t>SIRGAS-Chile 2025.0, PSAD56, SAD69. Es el sistema de referencia.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874519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B7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husos_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0917" y="2057400"/>
            <a:ext cx="1672046" cy="1463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75319" y="36118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B79CFF"/>
                </a:solidFill>
                <a:latin typeface="Arial"/>
              </a:rPr>
              <a:t>¿CÓMO LO DIBUJO?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8862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Cambria"/>
              </a:rPr>
              <a:t>Proyección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438912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DCEBE5"/>
                </a:solidFill>
                <a:latin typeface="Arial"/>
              </a:rPr>
              <a:t>UTM 19S, LTM, PTL. Pasa del elipsoide al plano.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49240"/>
            <a:ext cx="10927080" cy="640080"/>
          </a:xfrm>
          <a:prstGeom prst="roundRect">
            <a:avLst>
              <a:gd name="adj" fmla="val 6000"/>
            </a:avLst>
          </a:prstGeom>
          <a:solidFill>
            <a:srgbClr val="004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3492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2B33D"/>
                </a:solidFill>
                <a:latin typeface="Arial"/>
              </a:rPr>
              <a:t>Analogía: </a:t>
            </a:r>
            <a:r>
              <a:rPr sz="1400" b="0" i="0">
                <a:solidFill>
                  <a:srgbClr val="FFFFFF"/>
                </a:solidFill>
                <a:latin typeface="Arial"/>
              </a:rPr>
              <a:t>mides una casa con una huincha (constelación), desde una esquina acordada (datum), en un plano fechado (época) y lo dibujas a escala (proyección).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CONCEPTO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¿Qué es un datum?</a:t>
            </a:r>
          </a:p>
        </p:txBody>
      </p:sp>
      <p:pic>
        <p:nvPicPr>
          <p:cNvPr id="4" name="Picture 3" descr="dat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047488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2011680"/>
            <a:ext cx="548640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Datum = elipsoide + su posición y orientación respecto de la Tierra.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E8705C"/>
                </a:solidFill>
                <a:latin typeface="Arial"/>
              </a:rPr>
              <a:t>Local (topocéntrico): </a:t>
            </a:r>
            <a:r>
              <a:rPr sz="1700" b="0" i="0">
                <a:solidFill>
                  <a:srgbClr val="DCEBE5"/>
                </a:solidFill>
                <a:latin typeface="Arial"/>
              </a:rPr>
              <a:t>se ajusta al geoide en un punto datum. PSAD56 se fijó en La Canoa (Venezuela); en Chile queda lejos del geoide.</a:t>
            </a:r>
          </a:p>
          <a:p>
            <a:r>
              <a:rPr sz="1700" b="1" i="0">
                <a:solidFill>
                  <a:srgbClr val="B79CFF"/>
                </a:solidFill>
                <a:latin typeface="Arial"/>
              </a:rPr>
              <a:t>Geocéntrico: </a:t>
            </a:r>
            <a:r>
              <a:rPr sz="1700" b="0" i="0">
                <a:solidFill>
                  <a:srgbClr val="DCEBE5"/>
                </a:solidFill>
                <a:latin typeface="Arial"/>
              </a:rPr>
              <a:t>su centro coincide con el centro de masas de la Tierra. SIRGAS-Chile y WGS84 son geocéntricos y compatibles con GNSS.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LOS DATUM DE CHILE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Del datum local al marco geocéntrico con fecha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59" y="203911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87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391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50592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 i="0">
                <a:solidFill>
                  <a:srgbClr val="E8705C"/>
                </a:solidFill>
                <a:latin typeface="Cambria"/>
              </a:rPr>
              <a:t>PSAD56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07792"/>
            <a:ext cx="224028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DCEBE5"/>
                </a:solidFill>
                <a:latin typeface="Arial"/>
              </a:rPr>
              <a:t>Internacional 1924. Punto datum: La Canoa, Venezuela. Cartografía IGM antigua y concesiones mineras.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74519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2039112"/>
            <a:ext cx="1216152" cy="274320"/>
          </a:xfrm>
          <a:prstGeom prst="roundRect">
            <a:avLst>
              <a:gd name="adj" fmla="val 50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039112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6120F"/>
                </a:solidFill>
                <a:latin typeface="Arial"/>
              </a:rPr>
              <a:t>REGIONAL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450592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 i="0">
                <a:solidFill>
                  <a:srgbClr val="F2B33D"/>
                </a:solidFill>
                <a:latin typeface="Cambria"/>
              </a:rPr>
              <a:t>SAD69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907792"/>
            <a:ext cx="224028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DCEBE5"/>
                </a:solidFill>
                <a:latin typeface="Arial"/>
              </a:rPr>
              <a:t>GRS67 modificado. Punto datum: Chuá, Brasil. Cartografía del sur y algunos catastros.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74519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2039112"/>
            <a:ext cx="1014984" cy="274320"/>
          </a:xfrm>
          <a:prstGeom prst="roundRect">
            <a:avLst>
              <a:gd name="adj" fmla="val 50000"/>
            </a:avLst>
          </a:prstGeom>
          <a:solidFill>
            <a:srgbClr val="5A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39112"/>
            <a:ext cx="10149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GLOBAL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50592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 i="0">
                <a:solidFill>
                  <a:srgbClr val="5AA9FF"/>
                </a:solidFill>
                <a:latin typeface="Cambria"/>
              </a:rPr>
              <a:t>WGS84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07792"/>
            <a:ext cx="224028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DCEBE5"/>
                </a:solidFill>
                <a:latin typeface="Arial"/>
              </a:rPr>
              <a:t>Marco propio de GPS. Coincide con SIRGAS a nivel métrico.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1874519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89719" y="2039112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4FD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19" y="203911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6120F"/>
                </a:solidFill>
                <a:latin typeface="Arial"/>
              </a:rPr>
              <a:t>OFICIAL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450592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 i="0">
                <a:solidFill>
                  <a:srgbClr val="4FD1A5"/>
                </a:solidFill>
                <a:latin typeface="Cambria"/>
              </a:rPr>
              <a:t>SIRGAS-Chile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2907792"/>
            <a:ext cx="224028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DCEBE5"/>
                </a:solidFill>
                <a:latin typeface="Arial"/>
              </a:rPr>
              <a:t>GRS80, red CORS del IGM. Época vigente: 2025.0.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05840" y="5166360"/>
            <a:ext cx="10149840" cy="0"/>
          </a:xfrm>
          <a:prstGeom prst="line">
            <a:avLst/>
          </a:prstGeom>
          <a:ln w="25400">
            <a:solidFill>
              <a:srgbClr val="5F73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68680" y="5029200"/>
            <a:ext cx="274320" cy="274320"/>
          </a:xfrm>
          <a:prstGeom prst="ellipse">
            <a:avLst/>
          </a:prstGeom>
          <a:solidFill>
            <a:srgbClr val="B7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5262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B79CFF"/>
                </a:solidFill>
                <a:latin typeface="Arial"/>
              </a:rPr>
              <a:t>2002.0</a:t>
            </a:r>
          </a:p>
        </p:txBody>
      </p:sp>
      <p:sp>
        <p:nvSpPr>
          <p:cNvPr id="27" name="Oval 26"/>
          <p:cNvSpPr/>
          <p:nvPr/>
        </p:nvSpPr>
        <p:spPr>
          <a:xfrm>
            <a:off x="2898648" y="5029200"/>
            <a:ext cx="274320" cy="274320"/>
          </a:xfrm>
          <a:prstGeom prst="ellipse">
            <a:avLst/>
          </a:prstGeom>
          <a:solidFill>
            <a:srgbClr val="B7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04288" y="45262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B79CFF"/>
                </a:solidFill>
                <a:latin typeface="Arial"/>
              </a:rPr>
              <a:t>2010.0</a:t>
            </a:r>
          </a:p>
        </p:txBody>
      </p:sp>
      <p:sp>
        <p:nvSpPr>
          <p:cNvPr id="29" name="Oval 28"/>
          <p:cNvSpPr/>
          <p:nvPr/>
        </p:nvSpPr>
        <p:spPr>
          <a:xfrm>
            <a:off x="4928616" y="5029200"/>
            <a:ext cx="274320" cy="274320"/>
          </a:xfrm>
          <a:prstGeom prst="ellipse">
            <a:avLst/>
          </a:prstGeom>
          <a:solidFill>
            <a:srgbClr val="B7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34256" y="45262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B79CFF"/>
                </a:solidFill>
                <a:latin typeface="Arial"/>
              </a:rPr>
              <a:t>2013.0</a:t>
            </a:r>
          </a:p>
        </p:txBody>
      </p:sp>
      <p:sp>
        <p:nvSpPr>
          <p:cNvPr id="31" name="Oval 30"/>
          <p:cNvSpPr/>
          <p:nvPr/>
        </p:nvSpPr>
        <p:spPr>
          <a:xfrm>
            <a:off x="6958583" y="5029200"/>
            <a:ext cx="274320" cy="274320"/>
          </a:xfrm>
          <a:prstGeom prst="ellipse">
            <a:avLst/>
          </a:prstGeom>
          <a:solidFill>
            <a:srgbClr val="B7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5262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B79CFF"/>
                </a:solidFill>
                <a:latin typeface="Arial"/>
              </a:rPr>
              <a:t>2016.0</a:t>
            </a:r>
          </a:p>
        </p:txBody>
      </p:sp>
      <p:sp>
        <p:nvSpPr>
          <p:cNvPr id="33" name="Oval 32"/>
          <p:cNvSpPr/>
          <p:nvPr/>
        </p:nvSpPr>
        <p:spPr>
          <a:xfrm>
            <a:off x="8988552" y="5029200"/>
            <a:ext cx="274320" cy="274320"/>
          </a:xfrm>
          <a:prstGeom prst="ellipse">
            <a:avLst/>
          </a:prstGeom>
          <a:solidFill>
            <a:srgbClr val="B7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45262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B79CFF"/>
                </a:solidFill>
                <a:latin typeface="Arial"/>
              </a:rPr>
              <a:t>2021.0</a:t>
            </a:r>
          </a:p>
        </p:txBody>
      </p:sp>
      <p:sp>
        <p:nvSpPr>
          <p:cNvPr id="35" name="Oval 34"/>
          <p:cNvSpPr/>
          <p:nvPr/>
        </p:nvSpPr>
        <p:spPr>
          <a:xfrm>
            <a:off x="11018520" y="5029200"/>
            <a:ext cx="274320" cy="274320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4160" y="45262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2B33D"/>
                </a:solidFill>
                <a:latin typeface="Arial"/>
              </a:rPr>
              <a:t>2025.0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9FB5AE"/>
                </a:solidFill>
                <a:latin typeface="Arial"/>
              </a:rPr>
              <a:t>Épocas de SIRGAS-Chile: el IGM recalcula la red cuando la deformación tectónica se vuelve significativa (2010: Maule).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98932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1">
                <a:solidFill>
                  <a:srgbClr val="9FB5AE"/>
                </a:solidFill>
                <a:latin typeface="Arial"/>
              </a:rPr>
              <a:t>Fuentes: IGM (2025); EPSG Dataset; Ministerio de Bienes Nacionales (2010).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COMPARADOR DE ELIPSOIDES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La forma cambia poco; el origen cambia mucho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74519"/>
          <a:ext cx="10927080" cy="25146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828800"/>
                <a:gridCol w="2103120"/>
                <a:gridCol w="1554480"/>
                <a:gridCol w="2011680"/>
                <a:gridCol w="1737360"/>
                <a:gridCol w="169164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Datum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Elipsoide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 (m)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1/f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 (m)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Origen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705C"/>
                          </a:solidFill>
                          <a:latin typeface="Arial"/>
                        </a:rPr>
                        <a:t>PSAD56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Internacional 1924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6 378 388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6 356 912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La Canoa, Venezuela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8860B"/>
                          </a:solidFill>
                          <a:latin typeface="Arial"/>
                        </a:rPr>
                        <a:t>SAD69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GRS67 mod.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6 378 160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298,25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6 356 775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Chuá, Brasil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F6FD0"/>
                          </a:solidFill>
                          <a:latin typeface="Arial"/>
                        </a:rPr>
                        <a:t>WGS84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WGS84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6 378 137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298,257223563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6 356 752,314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Geocéntrico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4136"/>
                          </a:solidFill>
                          <a:latin typeface="Arial"/>
                        </a:rPr>
                        <a:t>SIRGAS-Chile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GRS80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6 378 137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298,257222101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6 356 752,314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Geocéntrico (CORS)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4663440"/>
            <a:ext cx="10927080" cy="91440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 w="12700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6634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 i="0">
                <a:solidFill>
                  <a:srgbClr val="A0700F"/>
                </a:solidFill>
                <a:latin typeface="Arial"/>
              </a:rPr>
              <a:t>Pregunta al curso: </a:t>
            </a:r>
            <a:r>
              <a:rPr sz="1700" b="0" i="0">
                <a:solidFill>
                  <a:srgbClr val="14231F"/>
                </a:solidFill>
                <a:latin typeface="Arial"/>
              </a:rPr>
              <a:t>si GRS80 y WGS84 son prácticamente idénticos, ¿por qué igual hay que declarar la época (2025.0)?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1">
                <a:solidFill>
                  <a:srgbClr val="5F736D"/>
                </a:solidFill>
                <a:latin typeface="Arial"/>
              </a:rPr>
              <a:t>b = a·(1 − f), cálculo propio. Fuentes: EPSG Dataset; IGM.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SI ME EQUIVOCO DE DATUM…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¿Cuánto se mueve un punto?</a:t>
            </a:r>
          </a:p>
        </p:txBody>
      </p:sp>
      <p:pic>
        <p:nvPicPr>
          <p:cNvPr id="4" name="Picture 3" descr="despla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6949440" cy="33009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874519"/>
            <a:ext cx="3886200" cy="192024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2039112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F2B33D"/>
                </a:solidFill>
                <a:latin typeface="Cambria"/>
              </a:rPr>
              <a:t>Ejemplo de catastro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496312"/>
            <a:ext cx="3520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DCEBE5"/>
                </a:solidFill>
                <a:latin typeface="Arial"/>
              </a:rPr>
              <a:t>Un loteo en PSAD56 superpuesto sin transformar sobre una ortofoto SIRGAS: los deslindes caen en el predio vecino o en el camino.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3977639"/>
            <a:ext cx="3886200" cy="182880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4142231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E8705C"/>
                </a:solidFill>
                <a:latin typeface="Cambria"/>
              </a:rPr>
              <a:t>Ojo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599431"/>
            <a:ext cx="3520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DCEBE5"/>
                </a:solidFill>
                <a:latin typeface="Arial"/>
              </a:rPr>
              <a:t>Son vectores 3D (±5 m) pensados para cartografía 1:50 000. Para mensura usa el Transformador de Datum del IGM.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5780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F2B33D"/>
                </a:solidFill>
                <a:latin typeface="Arial"/>
                <a:hlinkClick r:id="rId4"/>
              </a:rPr>
              <a:t>Transformador de Datum del IGM</a:t>
            </a:r>
            <a:r>
              <a:rPr sz="1400" b="0" i="0">
                <a:solidFill>
                  <a:srgbClr val="DCEBE5"/>
                </a:solidFill>
                <a:latin typeface="Arial"/>
              </a:rPr>
              <a:t> · la zona B (26°–36° S) incluye Horizonte Sur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1">
                <a:solidFill>
                  <a:srgbClr val="9FB5AE"/>
                </a:solidFill>
                <a:latin typeface="Arial"/>
              </a:rPr>
              <a:t>Parámetros IGM de 3 traslaciones (ΔX, ΔY, ΔZ). |Δ|: cálculo propio. Fuentes: IGM; EPSG Dataset.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CHILE SE MUEVE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Coordenada sin época = coordenada incompleta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520440" cy="2011680"/>
          </a:xfrm>
          <a:prstGeom prst="roundRect">
            <a:avLst>
              <a:gd name="adj" fmla="val 6000"/>
            </a:avLst>
          </a:prstGeom>
          <a:solidFill>
            <a:srgbClr val="06120F">
              <a:alpha val="80000"/>
            </a:srgbClr>
          </a:solidFill>
          <a:ln w="12700">
            <a:solidFill>
              <a:srgbClr val="E87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400" b="0" i="0">
                <a:solidFill>
                  <a:srgbClr val="E8705C"/>
                </a:solidFill>
                <a:latin typeface="Cambria"/>
              </a:rPr>
              <a:t>≥ 3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0" i="0">
                <a:solidFill>
                  <a:srgbClr val="DCEBE5"/>
                </a:solidFill>
                <a:latin typeface="Arial"/>
              </a:rPr>
              <a:t>Concepción hacia el oeste (Maule, 27-02-2010, Mw 8,8)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20240"/>
            <a:ext cx="3520440" cy="2011680"/>
          </a:xfrm>
          <a:prstGeom prst="roundRect">
            <a:avLst>
              <a:gd name="adj" fmla="val 6000"/>
            </a:avLst>
          </a:prstGeom>
          <a:solidFill>
            <a:srgbClr val="06120F">
              <a:alpha val="80000"/>
            </a:srgbClr>
          </a:solidFill>
          <a:ln w="12700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574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400" b="0" i="0">
                <a:solidFill>
                  <a:srgbClr val="F2B33D"/>
                </a:solidFill>
                <a:latin typeface="Cambria"/>
              </a:rPr>
              <a:t>≈ 5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06324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0" i="0">
                <a:solidFill>
                  <a:srgbClr val="DCEBE5"/>
                </a:solidFill>
                <a:latin typeface="Arial"/>
              </a:rPr>
              <a:t>Constitución, según los registros GPS del mismo sismo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920240"/>
            <a:ext cx="3520440" cy="2011680"/>
          </a:xfrm>
          <a:prstGeom prst="roundRect">
            <a:avLst>
              <a:gd name="adj" fmla="val 6000"/>
            </a:avLst>
          </a:prstGeom>
          <a:solidFill>
            <a:srgbClr val="06120F">
              <a:alpha val="80000"/>
            </a:srgbClr>
          </a:solidFill>
          <a:ln w="12700">
            <a:solidFill>
              <a:srgbClr val="5AA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574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400" b="0" i="0">
                <a:solidFill>
                  <a:srgbClr val="5AA9FF"/>
                </a:solidFill>
                <a:latin typeface="Cambria"/>
              </a:rPr>
              <a:t>≈ 28 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06324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0" i="0">
                <a:solidFill>
                  <a:srgbClr val="DCEBE5"/>
                </a:solidFill>
                <a:latin typeface="Arial"/>
              </a:rPr>
              <a:t>Santiago hacia el oeste-suroeste, a cientos de km del epicentro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06240"/>
            <a:ext cx="10927080" cy="1371600"/>
          </a:xfrm>
          <a:prstGeom prst="roundRect">
            <a:avLst>
              <a:gd name="adj" fmla="val 6000"/>
            </a:avLst>
          </a:prstGeom>
          <a:solidFill>
            <a:srgbClr val="06120F">
              <a:alpha val="85000"/>
            </a:srgbClr>
          </a:solidFill>
          <a:ln w="12700">
            <a:solidFill>
              <a:srgbClr val="4FD1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10424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900" b="1" i="0">
                <a:solidFill>
                  <a:srgbClr val="4FD1A5"/>
                </a:solidFill>
                <a:latin typeface="Cambria"/>
              </a:rPr>
              <a:t>Qué hacer en terreno</a:t>
            </a:r>
          </a:p>
          <a:p>
            <a:r>
              <a:rPr sz="1500" b="0" i="0">
                <a:solidFill>
                  <a:srgbClr val="DCEBE5"/>
                </a:solidFill>
                <a:latin typeface="Arial"/>
              </a:rPr>
              <a:t>Declarar la época, amarrarse a CORS de la red vigente y, si mezclas datos de distintas fechas, reducirlos a una época común con un modelo de velocidades (p. ej., VEMOS).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1">
                <a:solidFill>
                  <a:srgbClr val="9FB5AE"/>
                </a:solidFill>
                <a:latin typeface="Arial"/>
              </a:rPr>
              <a:t>Fuentes: NEHRP / USGS (2010); Bevis, Ohio State University, proyecto CAP (2010); SIRGAS.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CONCEPTO 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¿Qué es una proyección? La cáscara de naranja</a:t>
            </a:r>
          </a:p>
        </p:txBody>
      </p:sp>
      <p:pic>
        <p:nvPicPr>
          <p:cNvPr id="4" name="Picture 3" descr="globe_ch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3931920" cy="3931920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4709160" y="3429000"/>
            <a:ext cx="914400" cy="685800"/>
          </a:xfrm>
          <a:prstGeom prst="rightArrow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ip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920240"/>
            <a:ext cx="370006" cy="3657600"/>
          </a:xfrm>
          <a:prstGeom prst="rect">
            <a:avLst/>
          </a:prstGeom>
        </p:spPr>
      </p:pic>
      <p:pic>
        <p:nvPicPr>
          <p:cNvPr id="7" name="Picture 6" descr="strip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2029968"/>
            <a:ext cx="370006" cy="3657600"/>
          </a:xfrm>
          <a:prstGeom prst="rect">
            <a:avLst/>
          </a:prstGeom>
        </p:spPr>
      </p:pic>
      <p:pic>
        <p:nvPicPr>
          <p:cNvPr id="8" name="Picture 7" descr="strip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6016" y="1920240"/>
            <a:ext cx="370006" cy="3657600"/>
          </a:xfrm>
          <a:prstGeom prst="rect">
            <a:avLst/>
          </a:prstGeom>
        </p:spPr>
      </p:pic>
      <p:pic>
        <p:nvPicPr>
          <p:cNvPr id="9" name="Picture 8" descr="strip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2944" y="2029968"/>
            <a:ext cx="370006" cy="3657600"/>
          </a:xfrm>
          <a:prstGeom prst="rect">
            <a:avLst/>
          </a:prstGeom>
        </p:spPr>
      </p:pic>
      <p:pic>
        <p:nvPicPr>
          <p:cNvPr id="10" name="Picture 9" descr="strip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9872" y="1920240"/>
            <a:ext cx="370006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15400" y="1874519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03911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B79CFF"/>
                </a:solidFill>
                <a:latin typeface="Cambria"/>
              </a:rPr>
              <a:t>Siempre deforma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496312"/>
            <a:ext cx="2286000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DCEBE5"/>
                </a:solidFill>
                <a:latin typeface="Arial"/>
              </a:rPr>
              <a:t>Ángulos, áreas o distancias: ninguna proyección conserva todo.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38862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4050791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B79CFF"/>
                </a:solidFill>
                <a:latin typeface="Cambria"/>
              </a:rPr>
              <a:t>TM = conforme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4507992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DCEBE5"/>
                </a:solidFill>
                <a:latin typeface="Arial"/>
              </a:rPr>
              <a:t>Conserva ángulos locales; la escala varía con la distancia al meridiano central.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UTM EN CHILE CONTINENTAL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Husos 18 Sur y 19 Sur: la frontera está en 72° O</a:t>
            </a:r>
          </a:p>
        </p:txBody>
      </p:sp>
      <p:pic>
        <p:nvPicPr>
          <p:cNvPr id="4" name="Picture 3" descr="husos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4754880" cy="41605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35040" y="1874519"/>
          <a:ext cx="5440680" cy="292608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14884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Parámetro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Huso 18 S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Huso 19 S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CEBE5"/>
                          </a:solidFill>
                          <a:latin typeface="Arial"/>
                        </a:rPr>
                        <a:t>Longitudes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78°–72° O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72°–66° O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CEBE5"/>
                          </a:solidFill>
                          <a:latin typeface="Arial"/>
                        </a:rPr>
                        <a:t>Meridiano central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75° O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69° O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CEBE5"/>
                          </a:solidFill>
                          <a:latin typeface="Arial"/>
                        </a:rPr>
                        <a:t>k₀ en el MC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0,9996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0,9996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CEBE5"/>
                          </a:solidFill>
                          <a:latin typeface="Arial"/>
                        </a:rPr>
                        <a:t>Falso Este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500 000 m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500 000 m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CEBE5"/>
                          </a:solidFill>
                          <a:latin typeface="Arial"/>
                        </a:rPr>
                        <a:t>Falso Norte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10 000 000 m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10 000 000 m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CEBE5"/>
                          </a:solidFill>
                          <a:latin typeface="Arial"/>
                        </a:rPr>
                        <a:t>EPSG WGS84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32718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32719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CEBE5"/>
                          </a:solidFill>
                          <a:latin typeface="Arial"/>
                        </a:rPr>
                        <a:t>EPSG SIRGAS-Chile 2021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20048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BE5"/>
                          </a:solidFill>
                          <a:latin typeface="Arial"/>
                        </a:rPr>
                        <a:t>20049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035040" y="4983480"/>
            <a:ext cx="5440680" cy="868680"/>
          </a:xfrm>
          <a:prstGeom prst="roundRect">
            <a:avLst>
              <a:gd name="adj" fmla="val 6000"/>
            </a:avLst>
          </a:prstGeom>
          <a:solidFill>
            <a:srgbClr val="2A2210"/>
          </a:solidFill>
          <a:ln w="12700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4983480"/>
            <a:ext cx="5029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2B33D"/>
                </a:solidFill>
                <a:latin typeface="Arial"/>
              </a:rPr>
              <a:t>Ejercicio: </a:t>
            </a:r>
            <a:r>
              <a:rPr sz="1400" b="0" i="0">
                <a:solidFill>
                  <a:srgbClr val="DCEBE5"/>
                </a:solidFill>
                <a:latin typeface="Arial"/>
              </a:rPr>
              <a:t>¿en qué huso caen Iquique, Santiago, Concepción y Puerto Montt? ¿Y Horizonte Sur?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1">
                <a:solidFill>
                  <a:srgbClr val="9FB5AE"/>
                </a:solidFill>
                <a:latin typeface="Arial"/>
              </a:rPr>
              <a:t>Imagen: NASA Blue Marble; contornos: Natural Earth 1:10m; códigos: EPSG Dataset (epsg.io).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CHILE INSULAR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Rapa Nui y Juan Fernández están en otros husos</a:t>
            </a:r>
          </a:p>
        </p:txBody>
      </p:sp>
      <p:pic>
        <p:nvPicPr>
          <p:cNvPr id="4" name="Picture 3" descr="husos_insu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7680960" cy="391030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0" y="1828800"/>
          <a:ext cx="3108960" cy="2414016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600200"/>
                <a:gridCol w="594360"/>
                <a:gridCol w="914400"/>
              </a:tblGrid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Territorio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Huso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EPSG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DCEBE5"/>
                          </a:solidFill>
                          <a:latin typeface="Arial"/>
                        </a:rPr>
                        <a:t>Isla de Pascua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CEBE5"/>
                          </a:solidFill>
                          <a:latin typeface="Arial"/>
                        </a:rPr>
                        <a:t>12 S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CEBE5"/>
                          </a:solidFill>
                          <a:latin typeface="Arial"/>
                        </a:rPr>
                        <a:t>20042*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DCEBE5"/>
                          </a:solidFill>
                          <a:latin typeface="Arial"/>
                        </a:rPr>
                        <a:t>Salas y Gómez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CEBE5"/>
                          </a:solidFill>
                          <a:latin typeface="Arial"/>
                        </a:rPr>
                        <a:t>13 S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CEBE5"/>
                          </a:solidFill>
                          <a:latin typeface="Arial"/>
                        </a:rPr>
                        <a:t>32713**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DCEBE5"/>
                          </a:solidFill>
                          <a:latin typeface="Arial"/>
                        </a:rPr>
                        <a:t>Juan Fernández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CEBE5"/>
                          </a:solidFill>
                          <a:latin typeface="Arial"/>
                        </a:rPr>
                        <a:t>17 S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CEBE5"/>
                          </a:solidFill>
                          <a:latin typeface="Arial"/>
                        </a:rPr>
                        <a:t>32717**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DCEBE5"/>
                          </a:solidFill>
                          <a:latin typeface="Arial"/>
                        </a:rPr>
                        <a:t>Desventuradas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CEBE5"/>
                          </a:solidFill>
                          <a:latin typeface="Arial"/>
                        </a:rPr>
                        <a:t>17 S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CEBE5"/>
                          </a:solidFill>
                          <a:latin typeface="Arial"/>
                        </a:rPr>
                        <a:t>32717**</a:t>
                      </a:r>
                    </a:p>
                  </a:txBody>
                  <a:tcPr marL="73152" marR="73152" anchor="ctr">
                    <a:solidFill>
                      <a:srgbClr val="0A1D1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DCEBE5"/>
                          </a:solidFill>
                          <a:latin typeface="Arial"/>
                        </a:rPr>
                        <a:t>Continente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CEBE5"/>
                          </a:solidFill>
                          <a:latin typeface="Arial"/>
                        </a:rPr>
                        <a:t>18–19 S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CEBE5"/>
                          </a:solidFill>
                          <a:latin typeface="Arial"/>
                        </a:rPr>
                        <a:t>20048/49*</a:t>
                      </a:r>
                    </a:p>
                  </a:txBody>
                  <a:tcPr marL="73152" marR="73152" anchor="ctr">
                    <a:solidFill>
                      <a:srgbClr val="0E262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0" y="4343400"/>
            <a:ext cx="3154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F2B33D"/>
                </a:solidFill>
                <a:latin typeface="Arial"/>
              </a:rPr>
              <a:t>* SIRGAS-Chile 2021</a:t>
            </a:r>
          </a:p>
          <a:p>
            <a:r>
              <a:rPr sz="1100" b="0" i="0">
                <a:solidFill>
                  <a:srgbClr val="DCEBE5"/>
                </a:solidFill>
                <a:latin typeface="Arial"/>
              </a:rPr>
              <a:t>** WGS84: SIRGAS-Chile no tiene código propio en ese huso; define GRS80 + UTM y declara la época.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1">
                <a:solidFill>
                  <a:srgbClr val="9FB5AE"/>
                </a:solidFill>
                <a:latin typeface="Arial"/>
              </a:rPr>
              <a:t>Imagen: NASA Blue Marble; contornos: Natural Earth 1:10m; códigos: EPSG Dataset (epsg.io), consulta 05-10-2026.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TERRITORIO CHILENO ANTÁRTICO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Antártica: siete husos UTM y el sistema UPS</a:t>
            </a:r>
          </a:p>
        </p:txBody>
      </p:sp>
      <p:pic>
        <p:nvPicPr>
          <p:cNvPr id="4" name="Picture 3" descr="husos_antarti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416052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0" y="182880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993392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F2B33D"/>
                </a:solidFill>
                <a:latin typeface="Cambria"/>
              </a:rPr>
              <a:t>Siete husos UTM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450592"/>
            <a:ext cx="5074920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DCEBE5"/>
                </a:solidFill>
                <a:latin typeface="Arial"/>
              </a:rPr>
              <a:t>Del 16 S (90°–84° O) al 22 S (54°–48° O), entre 60° S y 80° 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20040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3364992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4FD1A5"/>
                </a:solidFill>
                <a:latin typeface="Cambria"/>
              </a:rPr>
              <a:t>UPS al sur de 80°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822191"/>
            <a:ext cx="5074920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DCEBE5"/>
                </a:solidFill>
                <a:latin typeface="Arial"/>
              </a:rPr>
              <a:t>UTM no se usa cerca del polo: se reemplaza por la estereográfica polar universal.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57200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736592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5AA9FF"/>
                </a:solidFill>
                <a:latin typeface="Cambria"/>
              </a:rPr>
              <a:t>Ejemplo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193792"/>
            <a:ext cx="5074920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DCEBE5"/>
                </a:solidFill>
                <a:latin typeface="Arial"/>
              </a:rPr>
              <a:t>Villa Las Estrellas y Base O'Higgins (≈ 58–59° O) caen en el huso 21 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1">
                <a:solidFill>
                  <a:srgbClr val="9FB5AE"/>
                </a:solidFill>
                <a:latin typeface="Arial"/>
              </a:rPr>
              <a:t>Imagen: NASA Blue Marble. Proyección estereográfica polar, elaboración propia. Sector 53°–90° O según la reclamación chilena (Tratado Antártico).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EL FACTOR DE ESCALA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Por qué UTM no sirve para replantear una obra</a:t>
            </a:r>
          </a:p>
        </p:txBody>
      </p:sp>
      <p:pic>
        <p:nvPicPr>
          <p:cNvPr id="4" name="Picture 3" descr="esca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731520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920240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B7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75320" y="202996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0" i="0">
                <a:solidFill>
                  <a:srgbClr val="B79CFF"/>
                </a:solidFill>
                <a:latin typeface="Cambria"/>
              </a:rPr>
              <a:t>−13 cm/km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6334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DCEBE5"/>
                </a:solidFill>
                <a:latin typeface="Arial"/>
              </a:rPr>
              <a:t>escala UTM en Santiago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246120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335584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0" i="0">
                <a:solidFill>
                  <a:srgbClr val="F2B33D"/>
                </a:solidFill>
                <a:latin typeface="Cambria"/>
              </a:rPr>
              <a:t>−8,6 cm/km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9593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DCEBE5"/>
                </a:solidFill>
                <a:latin typeface="Arial"/>
              </a:rPr>
              <a:t>reducción por altura (550 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572000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E87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468172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0" i="0">
                <a:solidFill>
                  <a:srgbClr val="E8705C"/>
                </a:solidFill>
                <a:latin typeface="Cambria"/>
              </a:rPr>
              <a:t>≈ −22 cm/km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528523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DCEBE5"/>
                </a:solidFill>
                <a:latin typeface="Arial"/>
              </a:rPr>
              <a:t>total: 1 km de terreno ≠ 1 km UTM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1">
                <a:solidFill>
                  <a:srgbClr val="9FB5AE"/>
                </a:solidFill>
                <a:latin typeface="Arial"/>
              </a:rPr>
              <a:t>Cálculo propio con k ≈ k₀·(1 + x²/2R²). Uso docente, no para cálculo de obra.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LA PROYECCIÓN DE LA INGENIERÍA CHILENA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LTM y PTL: el plano se parece al terreno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74519"/>
          <a:ext cx="7223760" cy="352044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828800"/>
                <a:gridCol w="1554480"/>
                <a:gridCol w="2011680"/>
                <a:gridCol w="1828800"/>
              </a:tblGrid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Parámetro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UTM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LTM (MOP/CNR)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LTM-PTL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31F"/>
                          </a:solidFill>
                          <a:latin typeface="Arial"/>
                        </a:rPr>
                        <a:t>Ancho del huso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4231F"/>
                          </a:solidFill>
                          <a:latin typeface="Arial"/>
                        </a:rPr>
                        <a:t>6°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4231F"/>
                          </a:solidFill>
                          <a:latin typeface="Arial"/>
                        </a:rPr>
                        <a:t>1°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4231F"/>
                          </a:solidFill>
                          <a:latin typeface="Arial"/>
                        </a:rPr>
                        <a:t>1°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31F"/>
                          </a:solidFill>
                          <a:latin typeface="Arial"/>
                        </a:rPr>
                        <a:t>Meridiano central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4231F"/>
                          </a:solidFill>
                          <a:latin typeface="Arial"/>
                        </a:rPr>
                        <a:t>75° / 69° O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4231F"/>
                          </a:solidFill>
                          <a:latin typeface="Arial"/>
                        </a:rPr>
                        <a:t>Local (cada 0,5°)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4231F"/>
                          </a:solidFill>
                          <a:latin typeface="Arial"/>
                        </a:rPr>
                        <a:t>Local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31F"/>
                          </a:solidFill>
                          <a:latin typeface="Arial"/>
                        </a:rPr>
                        <a:t>k₀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4231F"/>
                          </a:solidFill>
                          <a:latin typeface="Arial"/>
                        </a:rPr>
                        <a:t>0,9996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4231F"/>
                          </a:solidFill>
                          <a:latin typeface="Arial"/>
                        </a:rPr>
                        <a:t>0,999995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4231F"/>
                          </a:solidFill>
                          <a:latin typeface="Arial"/>
                        </a:rPr>
                        <a:t>KH = (R + H)/R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31F"/>
                          </a:solidFill>
                          <a:latin typeface="Arial"/>
                        </a:rPr>
                        <a:t>Falso Este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4231F"/>
                          </a:solidFill>
                          <a:latin typeface="Arial"/>
                        </a:rPr>
                        <a:t>500 000 m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4231F"/>
                          </a:solidFill>
                          <a:latin typeface="Arial"/>
                        </a:rPr>
                        <a:t>200 000 m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4231F"/>
                          </a:solidFill>
                          <a:latin typeface="Arial"/>
                        </a:rPr>
                        <a:t>200 000 m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31F"/>
                          </a:solidFill>
                          <a:latin typeface="Arial"/>
                        </a:rPr>
                        <a:t>Falso Norte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4231F"/>
                          </a:solidFill>
                          <a:latin typeface="Arial"/>
                        </a:rPr>
                        <a:t>10 000 000 m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4231F"/>
                          </a:solidFill>
                          <a:latin typeface="Arial"/>
                        </a:rPr>
                        <a:t>7 000 000 m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4231F"/>
                          </a:solidFill>
                          <a:latin typeface="Arial"/>
                        </a:rPr>
                        <a:t>7 000 000 m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31F"/>
                          </a:solidFill>
                          <a:latin typeface="Arial"/>
                        </a:rPr>
                        <a:t>Uso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4231F"/>
                          </a:solidFill>
                          <a:latin typeface="Arial"/>
                        </a:rPr>
                        <a:t>Cartografía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4231F"/>
                          </a:solidFill>
                          <a:latin typeface="Arial"/>
                        </a:rPr>
                        <a:t>Obras viales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4231F"/>
                          </a:solidFill>
                          <a:latin typeface="Arial"/>
                        </a:rPr>
                        <a:t>Replanteo a la cota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92440" y="1874519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75319" y="203911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0B8A63"/>
                </a:solidFill>
                <a:latin typeface="Cambria"/>
              </a:rPr>
              <a:t>Ejemplo vial: 10 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19" y="2496312"/>
            <a:ext cx="3108960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14231F"/>
                </a:solidFill>
                <a:latin typeface="Arial"/>
              </a:rPr>
              <a:t>En UTM: ≈ 2 m de diferencia con la estación total. En LTM-PTL: centímetros.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388620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19" y="4050791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6C4BD1"/>
                </a:solidFill>
                <a:latin typeface="Cambria"/>
              </a:rPr>
              <a:t>PTL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19" y="4507992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14231F"/>
                </a:solidFill>
                <a:latin typeface="Arial"/>
              </a:rPr>
              <a:t>Eleva el plano a la cota media del proyecto (banda ±300 m).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1">
                <a:solidFill>
                  <a:srgbClr val="5F736D"/>
                </a:solidFill>
                <a:latin typeface="Arial"/>
              </a:rPr>
              <a:t>Fuentes: MOP, Manual de Carreteras Vol. 2 (2001); Comisión Nacional de Riego (2015).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CONCEPTO 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Altura GNSS ≠ cota</a:t>
            </a:r>
          </a:p>
        </p:txBody>
      </p:sp>
      <p:pic>
        <p:nvPicPr>
          <p:cNvPr id="4" name="Picture 3" descr="altur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7315200" cy="34747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874519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2039112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E8705C"/>
                </a:solidFill>
                <a:latin typeface="Cambria"/>
              </a:rPr>
              <a:t>h · elipsoidal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496312"/>
            <a:ext cx="3154680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DCEBE5"/>
                </a:solidFill>
                <a:latin typeface="Arial"/>
              </a:rPr>
              <a:t>La entrega el GNSS. Referida a GRS80.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200400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3364992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5AA9FF"/>
                </a:solidFill>
                <a:latin typeface="Cambria"/>
              </a:rPr>
              <a:t>H · ortométrica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822191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DCEBE5"/>
                </a:solidFill>
                <a:latin typeface="Arial"/>
              </a:rPr>
              <a:t>La cota: nivelación o H = h − 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526279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690871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B79CFF"/>
                </a:solidFill>
                <a:latin typeface="Cambria"/>
              </a:rPr>
              <a:t>N · ondulación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148071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DCEBE5"/>
                </a:solidFill>
                <a:latin typeface="Arial"/>
              </a:rPr>
              <a:t>Del modelo geoidal (EGM2008 u oficial del IGM).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F2B33D"/>
                </a:solidFill>
                <a:latin typeface="Arial"/>
              </a:rPr>
              <a:t>Ejemplo: </a:t>
            </a:r>
            <a:r>
              <a:rPr sz="1400" b="0" i="0">
                <a:solidFill>
                  <a:srgbClr val="DCEBE5"/>
                </a:solidFill>
                <a:latin typeface="Arial"/>
              </a:rPr>
              <a:t>pendiente de un canal de riego diseñada con h sin corregir: N cambia a lo largo del trazado y puede invertir pendientes suaves.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QUIZ 3 · POLLS DE TEAMS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¿Cómo declaras las coordenadas de Horizonte Sur?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2E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313432"/>
            <a:ext cx="685800" cy="685800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6120F"/>
                </a:solidFill>
                <a:latin typeface="Cambria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0312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Arial"/>
              </a:rPr>
              <a:t>PSAD56 / UTM 19S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659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2E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313432"/>
            <a:ext cx="685800" cy="685800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31343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6120F"/>
                </a:solidFill>
                <a:latin typeface="Cambria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10312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Arial"/>
              </a:rPr>
              <a:t>SIRGAS-Chile 2025.0 / UTM 18S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2E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913632"/>
            <a:ext cx="685800" cy="685800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1363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6120F"/>
                </a:solidFill>
                <a:latin typeface="Cambria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Arial"/>
              </a:rPr>
              <a:t>SIRGAS-Chile 2025.0 / UTM 19S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5661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6120F"/>
          </a:solidFill>
          <a:ln w="12700">
            <a:solidFill>
              <a:srgbClr val="2E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913632"/>
            <a:ext cx="685800" cy="685800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1363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6120F"/>
                </a:solidFill>
                <a:latin typeface="Cambria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70332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Arial"/>
              </a:rPr>
              <a:t>GPS / UTM 19S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49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 i="1">
                <a:solidFill>
                  <a:srgbClr val="F2B33D"/>
                </a:solidFill>
                <a:latin typeface="Arial"/>
              </a:rPr>
              <a:t>Pregunta extra en Polls: ¿en qué huso UTM está Rapa Nui?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CASO DE LA EVALUACIÓN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Horizonte Sur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 de Gestión Territorial y Cartografía (DGTC) · zona rural, Chile central (33° S)</a:t>
            </a:r>
            <a:endParaRPr lang="en-US" sz="1600" dirty="0"/>
          </a:p>
        </p:txBody>
      </p:sp>
      <p:sp>
        <p:nvSpPr>
          <p:cNvPr id="5" name="chip 0"/>
          <p:cNvSpPr/>
          <p:nvPr/>
        </p:nvSpPr>
        <p:spPr>
          <a:xfrm>
            <a:off x="640080" y="23774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06120F">
              <a:alpha val="7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7744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campaña de terreno</a:t>
            </a:r>
            <a:endParaRPr lang="en-US" sz="1300" dirty="0"/>
          </a:p>
        </p:txBody>
      </p:sp>
      <p:sp>
        <p:nvSpPr>
          <p:cNvPr id="8" name="chip 1"/>
          <p:cNvSpPr/>
          <p:nvPr/>
        </p:nvSpPr>
        <p:spPr>
          <a:xfrm>
            <a:off x="3429000" y="23774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06120F">
              <a:alpha val="7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237744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37744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sectores distintos</a:t>
            </a:r>
            <a:endParaRPr lang="en-US" sz="1300" dirty="0"/>
          </a:p>
        </p:txBody>
      </p:sp>
      <p:sp>
        <p:nvSpPr>
          <p:cNvPr id="11" name="chip 2"/>
          <p:cNvSpPr/>
          <p:nvPr/>
        </p:nvSpPr>
        <p:spPr>
          <a:xfrm>
            <a:off x="6217920" y="23774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06120F">
              <a:alpha val="7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237744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37744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constelaciones disponibles</a:t>
            </a:r>
            <a:endParaRPr lang="en-US" sz="1300" dirty="0"/>
          </a:p>
        </p:txBody>
      </p:sp>
      <p:sp>
        <p:nvSpPr>
          <p:cNvPr id="14" name="chip 3"/>
          <p:cNvSpPr/>
          <p:nvPr/>
        </p:nvSpPr>
        <p:spPr>
          <a:xfrm>
            <a:off x="9006840" y="23774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06120F">
              <a:alpha val="75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89720" y="237744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0" y="237744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 y plazo limitados</a:t>
            </a:r>
            <a:endParaRPr lang="en-US" sz="1300" dirty="0"/>
          </a:p>
        </p:txBody>
      </p:sp>
      <p:sp>
        <p:nvSpPr>
          <p:cNvPr id="17" name="rol"/>
          <p:cNvSpPr/>
          <p:nvPr/>
        </p:nvSpPr>
        <p:spPr>
          <a:xfrm>
            <a:off x="640080" y="5349240"/>
            <a:ext cx="6766560" cy="777240"/>
          </a:xfrm>
          <a:prstGeom prst="roundRect">
            <a:avLst>
              <a:gd name="adj" fmla="val 9412"/>
            </a:avLst>
          </a:prstGeom>
          <a:solidFill>
            <a:schemeClr val="tx2">
              <a:alpha val="90000"/>
            </a:scheme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3492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rol: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profesional responsable de la recomendación técnica.</a:t>
            </a:r>
            <a:endParaRPr lang="en-US" sz="1600" dirty="0"/>
          </a:p>
        </p:txBody>
      </p:sp>
      <p:sp>
        <p:nvSpPr>
          <p:cNvPr id="20" name="Text 0"/>
          <p:cNvSpPr/>
          <p:nvPr>
            <p:ph idx="102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9FB5A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ANTECEDENTES DEL CASO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sectores, tres cielos distintos</a:t>
            </a:r>
            <a:endParaRPr lang="en-US" sz="3400" dirty="0"/>
          </a:p>
        </p:txBody>
      </p:sp>
      <p:pic>
        <p:nvPicPr>
          <p:cNvPr id="4" name="Image 0" descr="/home/claude/img/sky_s1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83080"/>
            <a:ext cx="2560320" cy="2596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434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8280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Pradera abierta, vegetación baja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2852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SAT.</a:t>
            </a:r>
            <a:endParaRPr lang="en-US" sz="8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2514600" y="52852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PDOP</a:t>
            </a:r>
            <a:endParaRPr lang="en-US" sz="8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1,1–1,8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715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</a:t>
            </a:r>
            <a:endParaRPr lang="en-US" sz="8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±3 cm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2514600" y="5715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</a:t>
            </a:r>
            <a:endParaRPr lang="en-US" sz="8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Permanente</a:t>
            </a:r>
            <a:endParaRPr lang="en-US" sz="800" dirty="0"/>
          </a:p>
        </p:txBody>
      </p:sp>
      <p:pic>
        <p:nvPicPr>
          <p:cNvPr id="11" name="Image 1" descr="/home/claude/img/sky_s2_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83080"/>
            <a:ext cx="2560320" cy="2596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89120" y="4434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2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389120" y="48280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Vegetación densa, casas de 2 pisos, obstrucción NW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480560" y="52852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SAT.</a:t>
            </a:r>
            <a:endParaRPr lang="en-US" sz="8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6263640" y="52852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PDOP</a:t>
            </a:r>
            <a:endParaRPr lang="en-US" sz="8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3,8–5,2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4480560" y="5715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</a:t>
            </a:r>
            <a:endParaRPr lang="en-US" sz="8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±10 cm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6263640" y="5715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</a:t>
            </a:r>
            <a:endParaRPr lang="en-US" sz="8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Intermitente</a:t>
            </a:r>
            <a:endParaRPr lang="en-US" sz="800" dirty="0"/>
          </a:p>
        </p:txBody>
      </p:sp>
      <p:pic>
        <p:nvPicPr>
          <p:cNvPr id="18" name="Image 2" descr="/home/claude/img/sky_s3_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783080"/>
            <a:ext cx="2560320" cy="25968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138160" y="4434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3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8138160" y="48280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Quebrada y laderas, talud, eucaliptos de 12 m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0" y="52852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SAT.</a:t>
            </a:r>
            <a:endParaRPr lang="en-US" sz="8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7–9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10012680" y="52852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PDOP</a:t>
            </a:r>
            <a:endParaRPr lang="en-US" sz="8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2,5–4,1</a:t>
            </a:r>
            <a:endParaRPr lang="en-US" sz="8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0" y="5715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</a:t>
            </a:r>
            <a:endParaRPr lang="en-US" sz="8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±5 cm</a:t>
            </a:r>
            <a:endParaRPr lang="en-US" sz="800" dirty="0"/>
          </a:p>
        </p:txBody>
      </p:sp>
      <p:sp>
        <p:nvSpPr>
          <p:cNvPr id="24" name="Text 19"/>
          <p:cNvSpPr txBox="1"/>
          <p:nvPr/>
        </p:nvSpPr>
        <p:spPr>
          <a:xfrm>
            <a:off x="10012680" y="5715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</a:t>
            </a:r>
            <a:endParaRPr lang="en-US" sz="8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Parcial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640080" y="14813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 plots ilustrativos: representan el entorno de cada sector, no efemérides reales. Datos tomados del caso.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9FB5A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DE DATOS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Pongamos el DOP de los tres sectores en una regla</a:t>
            </a:r>
            <a:endParaRPr lang="en-US" sz="3400" dirty="0"/>
          </a:p>
        </p:txBody>
      </p:sp>
      <p:sp>
        <p:nvSpPr>
          <p:cNvPr id="4" name="zona favorable"/>
          <p:cNvSpPr/>
          <p:nvPr/>
        </p:nvSpPr>
        <p:spPr>
          <a:xfrm>
            <a:off x="2194560" y="1874520"/>
            <a:ext cx="5669280" cy="3611880"/>
          </a:xfrm>
          <a:prstGeom prst="rect">
            <a:avLst/>
          </a:prstGeom>
          <a:solidFill>
            <a:srgbClr val="DDEFE7"/>
          </a:solidFill>
          <a:ln/>
        </p:spPr>
      </p:sp>
      <p:sp>
        <p:nvSpPr>
          <p:cNvPr id="5" name="zona cautela"/>
          <p:cNvSpPr/>
          <p:nvPr/>
        </p:nvSpPr>
        <p:spPr>
          <a:xfrm>
            <a:off x="7863840" y="1874520"/>
            <a:ext cx="2834640" cy="3611880"/>
          </a:xfrm>
          <a:prstGeom prst="rect">
            <a:avLst/>
          </a:prstGeom>
          <a:solidFill>
            <a:srgbClr val="FBE7D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28600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PDOP &lt; 4 · más favorable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· cautela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5532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5532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5532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5532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5532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5532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0" y="5532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331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53612" y="2331720"/>
            <a:ext cx="992124" cy="201168"/>
          </a:xfrm>
          <a:prstGeom prst="roundRect">
            <a:avLst>
              <a:gd name="adj" fmla="val 50000"/>
            </a:avLst>
          </a:prstGeom>
          <a:solidFill>
            <a:srgbClr val="F2B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18888" y="2295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PDOP 1,1–1,8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0148" y="2606040"/>
            <a:ext cx="425196" cy="201168"/>
          </a:xfrm>
          <a:prstGeom prst="roundRect">
            <a:avLst>
              <a:gd name="adj" fmla="val 50000"/>
            </a:avLst>
          </a:prstGeom>
          <a:solidFill>
            <a:srgbClr val="5AA9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68496" y="25694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HDOP 0,9–1,2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95344" y="2880360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E870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35424" y="28437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VDOP 1,2–1,6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1071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2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580376" y="3410712"/>
            <a:ext cx="1984248" cy="201168"/>
          </a:xfrm>
          <a:prstGeom prst="roundRect">
            <a:avLst>
              <a:gd name="adj" fmla="val 50000"/>
            </a:avLst>
          </a:prstGeom>
          <a:solidFill>
            <a:srgbClr val="F2B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37776" y="33741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PDOP 3,8–5,2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12664" y="3685032"/>
            <a:ext cx="1133856" cy="201168"/>
          </a:xfrm>
          <a:prstGeom prst="roundRect">
            <a:avLst>
              <a:gd name="adj" fmla="val 50000"/>
            </a:avLst>
          </a:prstGeom>
          <a:solidFill>
            <a:srgbClr val="5AA9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19672" y="36484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HDOP 2,2–3,0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46520" y="3959352"/>
            <a:ext cx="1842516" cy="201168"/>
          </a:xfrm>
          <a:prstGeom prst="roundRect">
            <a:avLst>
              <a:gd name="adj" fmla="val 50000"/>
            </a:avLst>
          </a:prstGeom>
          <a:solidFill>
            <a:srgbClr val="E8705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362188" y="3922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VDOP 3,0–4,3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48970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3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737860" y="4489704"/>
            <a:ext cx="2267712" cy="201168"/>
          </a:xfrm>
          <a:prstGeom prst="roundRect">
            <a:avLst>
              <a:gd name="adj" fmla="val 50000"/>
            </a:avLst>
          </a:prstGeom>
          <a:solidFill>
            <a:srgbClr val="F2B3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78724" y="4453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PDOP 2,5–4,1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45736" y="4764024"/>
            <a:ext cx="992124" cy="201168"/>
          </a:xfrm>
          <a:prstGeom prst="roundRect">
            <a:avLst>
              <a:gd name="adj" fmla="val 50000"/>
            </a:avLst>
          </a:prstGeom>
          <a:solidFill>
            <a:srgbClr val="5AA9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811012" y="4727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HDOP 1,8–2,5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12664" y="5038344"/>
            <a:ext cx="1842516" cy="201168"/>
          </a:xfrm>
          <a:prstGeom prst="roundRect">
            <a:avLst>
              <a:gd name="adj" fmla="val 50000"/>
            </a:avLst>
          </a:prstGeom>
          <a:solidFill>
            <a:srgbClr val="E8705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228332" y="5001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VDOP 2,2–3,5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852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tu análisis: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sector entra en zona de cautela? · ¿por qué el VDOP supera al HDOP? · ¿alcanza la geometría para la precisión pedida?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5F736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ESCRIBIR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trampas que el caso te pone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≠ proyección ≠ constelación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24231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SIRGAS-Chile 2025.0 es el sistema de referencia; UTM Huso 19 Sur es la proyección; GPS o Galileo son constelaciones. No los mezcles.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8745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5AA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745236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DOP no es una fuente de error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4231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indicador de cuánto la geometría amplifica los errores. Escríbelo así en tu informe.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9319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4FD1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3977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tipos de cobertura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44805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Permanente, intermitente o parcial es una restricción operacional de la zona. La cobertura por constelación es otra cosa.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9319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E87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3977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Ruido de fase en el Sector 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44805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dato. Su causa no está informada: no la atribuyas sin evidencia y declara ese límite.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9FB5A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OPCIONES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alternativas sobre la mesa</a:t>
            </a:r>
            <a:endParaRPr lang="en-US" sz="3400" dirty="0"/>
          </a:p>
        </p:txBody>
      </p:sp>
      <p:sp>
        <p:nvSpPr>
          <p:cNvPr id="4" name="alt A"/>
          <p:cNvSpPr/>
          <p:nvPr/>
        </p:nvSpPr>
        <p:spPr>
          <a:xfrm>
            <a:off x="640080" y="1874520"/>
            <a:ext cx="3566160" cy="39319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965960" y="2331720"/>
            <a:ext cx="292608" cy="292608"/>
          </a:xfrm>
          <a:prstGeom prst="ellipse">
            <a:avLst/>
          </a:prstGeom>
          <a:solidFill>
            <a:srgbClr val="F2B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57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cantidad de satélites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Geometría sensible a obstrucciones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OPERATIVO</a:t>
            </a:r>
            <a:endParaRPr lang="en-US" sz="900" dirty="0"/>
          </a:p>
        </p:txBody>
      </p:sp>
      <p:sp>
        <p:nvSpPr>
          <p:cNvPr id="10" name="cost"/>
          <p:cNvSpPr/>
          <p:nvPr/>
        </p:nvSpPr>
        <p:spPr>
          <a:xfrm>
            <a:off x="2788920" y="4983480"/>
            <a:ext cx="310896" cy="182880"/>
          </a:xfrm>
          <a:prstGeom prst="rect">
            <a:avLst/>
          </a:prstGeom>
          <a:solidFill>
            <a:srgbClr val="E8705C"/>
          </a:solidFill>
          <a:ln/>
        </p:spPr>
      </p:sp>
      <p:sp>
        <p:nvSpPr>
          <p:cNvPr id="11" name="cost"/>
          <p:cNvSpPr/>
          <p:nvPr/>
        </p:nvSpPr>
        <p:spPr>
          <a:xfrm>
            <a:off x="3172968" y="4983480"/>
            <a:ext cx="310896" cy="182880"/>
          </a:xfrm>
          <a:prstGeom prst="rect">
            <a:avLst/>
          </a:prstGeom>
          <a:solidFill>
            <a:srgbClr val="DCE4E1"/>
          </a:solidFill>
          <a:ln/>
        </p:spPr>
      </p:sp>
      <p:sp>
        <p:nvSpPr>
          <p:cNvPr id="12" name="cost"/>
          <p:cNvSpPr/>
          <p:nvPr/>
        </p:nvSpPr>
        <p:spPr>
          <a:xfrm>
            <a:off x="3557016" y="4983480"/>
            <a:ext cx="310896" cy="182880"/>
          </a:xfrm>
          <a:prstGeom prst="rect">
            <a:avLst/>
          </a:prstGeom>
          <a:solidFill>
            <a:srgbClr val="DCE4E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5285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</a:t>
            </a:r>
            <a:endParaRPr lang="en-US" sz="1300" dirty="0"/>
          </a:p>
        </p:txBody>
      </p:sp>
      <p:sp>
        <p:nvSpPr>
          <p:cNvPr id="14" name="alt B"/>
          <p:cNvSpPr/>
          <p:nvPr/>
        </p:nvSpPr>
        <p:spPr>
          <a:xfrm>
            <a:off x="4389120" y="1874520"/>
            <a:ext cx="3566160" cy="39319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6344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5715000" y="2331720"/>
            <a:ext cx="292608" cy="292608"/>
          </a:xfrm>
          <a:prstGeom prst="ellipse">
            <a:avLst/>
          </a:prstGeom>
          <a:solidFill>
            <a:srgbClr val="F2B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9048" y="2331720"/>
            <a:ext cx="292608" cy="292608"/>
          </a:xfrm>
          <a:prstGeom prst="ellipse">
            <a:avLst/>
          </a:prstGeom>
          <a:solidFill>
            <a:srgbClr val="E8705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+ GLONASS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657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Cantidad intermedia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 de respaldo ante obstrucciones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OPERATIVO</a:t>
            </a:r>
            <a:endParaRPr lang="en-US" sz="900" dirty="0"/>
          </a:p>
        </p:txBody>
      </p:sp>
      <p:sp>
        <p:nvSpPr>
          <p:cNvPr id="21" name="cost"/>
          <p:cNvSpPr/>
          <p:nvPr/>
        </p:nvSpPr>
        <p:spPr>
          <a:xfrm>
            <a:off x="6537960" y="4983480"/>
            <a:ext cx="310896" cy="182880"/>
          </a:xfrm>
          <a:prstGeom prst="rect">
            <a:avLst/>
          </a:prstGeom>
          <a:solidFill>
            <a:srgbClr val="E8705C"/>
          </a:solidFill>
          <a:ln/>
        </p:spPr>
      </p:sp>
      <p:sp>
        <p:nvSpPr>
          <p:cNvPr id="22" name="cost"/>
          <p:cNvSpPr/>
          <p:nvPr/>
        </p:nvSpPr>
        <p:spPr>
          <a:xfrm>
            <a:off x="6922008" y="4983480"/>
            <a:ext cx="310896" cy="182880"/>
          </a:xfrm>
          <a:prstGeom prst="rect">
            <a:avLst/>
          </a:prstGeom>
          <a:solidFill>
            <a:srgbClr val="E8705C"/>
          </a:solidFill>
          <a:ln/>
        </p:spPr>
      </p:sp>
      <p:sp>
        <p:nvSpPr>
          <p:cNvPr id="23" name="cost"/>
          <p:cNvSpPr/>
          <p:nvPr/>
        </p:nvSpPr>
        <p:spPr>
          <a:xfrm>
            <a:off x="7306056" y="4983480"/>
            <a:ext cx="310896" cy="182880"/>
          </a:xfrm>
          <a:prstGeom prst="rect">
            <a:avLst/>
          </a:prstGeom>
          <a:solidFill>
            <a:srgbClr val="DCE4E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63440" y="5285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1300" dirty="0"/>
          </a:p>
        </p:txBody>
      </p:sp>
      <p:sp>
        <p:nvSpPr>
          <p:cNvPr id="25" name="alt C"/>
          <p:cNvSpPr/>
          <p:nvPr/>
        </p:nvSpPr>
        <p:spPr>
          <a:xfrm>
            <a:off x="8138160" y="1874520"/>
            <a:ext cx="3566160" cy="39319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5400" dirty="0"/>
          </a:p>
        </p:txBody>
      </p:sp>
      <p:sp>
        <p:nvSpPr>
          <p:cNvPr id="27" name="Shape 25"/>
          <p:cNvSpPr/>
          <p:nvPr/>
        </p:nvSpPr>
        <p:spPr>
          <a:xfrm>
            <a:off x="9464040" y="2331720"/>
            <a:ext cx="292608" cy="292608"/>
          </a:xfrm>
          <a:prstGeom prst="ellipse">
            <a:avLst/>
          </a:prstGeom>
          <a:solidFill>
            <a:srgbClr val="F2B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48088" y="2331720"/>
            <a:ext cx="292608" cy="292608"/>
          </a:xfrm>
          <a:prstGeom prst="ellipse">
            <a:avLst/>
          </a:prstGeom>
          <a:solidFill>
            <a:srgbClr val="E8705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32136" y="2331720"/>
            <a:ext cx="292608" cy="292608"/>
          </a:xfrm>
          <a:prstGeom prst="ellipse">
            <a:avLst/>
          </a:prstGeom>
          <a:solidFill>
            <a:srgbClr val="5AA9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16184" y="2331720"/>
            <a:ext cx="292608" cy="292608"/>
          </a:xfrm>
          <a:prstGeom prst="ellipse">
            <a:avLst/>
          </a:prstGeom>
          <a:solidFill>
            <a:srgbClr val="4FD1A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0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+ GLONASS + Galileo + BeiDou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0" y="3657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cantidad y redundancia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continuidad con obstrucciones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OPERATIVO</a:t>
            </a:r>
            <a:endParaRPr lang="en-US" sz="900" dirty="0"/>
          </a:p>
        </p:txBody>
      </p:sp>
      <p:sp>
        <p:nvSpPr>
          <p:cNvPr id="34" name="cost"/>
          <p:cNvSpPr/>
          <p:nvPr/>
        </p:nvSpPr>
        <p:spPr>
          <a:xfrm>
            <a:off x="10287000" y="4983480"/>
            <a:ext cx="310896" cy="182880"/>
          </a:xfrm>
          <a:prstGeom prst="rect">
            <a:avLst/>
          </a:prstGeom>
          <a:solidFill>
            <a:srgbClr val="E8705C"/>
          </a:solidFill>
          <a:ln/>
        </p:spPr>
      </p:sp>
      <p:sp>
        <p:nvSpPr>
          <p:cNvPr id="35" name="cost"/>
          <p:cNvSpPr/>
          <p:nvPr/>
        </p:nvSpPr>
        <p:spPr>
          <a:xfrm>
            <a:off x="10671048" y="4983480"/>
            <a:ext cx="310896" cy="182880"/>
          </a:xfrm>
          <a:prstGeom prst="rect">
            <a:avLst/>
          </a:prstGeom>
          <a:solidFill>
            <a:srgbClr val="E8705C"/>
          </a:solidFill>
          <a:ln/>
        </p:spPr>
      </p:sp>
      <p:sp>
        <p:nvSpPr>
          <p:cNvPr id="36" name="cost"/>
          <p:cNvSpPr/>
          <p:nvPr/>
        </p:nvSpPr>
        <p:spPr>
          <a:xfrm>
            <a:off x="11055096" y="4983480"/>
            <a:ext cx="310896" cy="182880"/>
          </a:xfrm>
          <a:prstGeom prst="rect">
            <a:avLst/>
          </a:prstGeom>
          <a:solidFill>
            <a:srgbClr val="E8705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12480" y="5285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5F736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DILEMA DEL EQUIPO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¿La alternativa C en todo, o una solución por sector?</a:t>
            </a:r>
            <a:endParaRPr lang="en-US" sz="3400" dirty="0"/>
          </a:p>
        </p:txBody>
      </p:sp>
      <p:sp>
        <p:nvSpPr>
          <p:cNvPr id="4" name="pos1"/>
          <p:cNvSpPr/>
          <p:nvPr/>
        </p:nvSpPr>
        <p:spPr>
          <a:xfrm>
            <a:off x="640080" y="196596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06120F">
              <a:alpha val="60000"/>
            </a:srgbClr>
          </a:solidFill>
          <a:ln/>
        </p:spPr>
      </p:sp>
      <p:sp>
        <p:nvSpPr>
          <p:cNvPr id="5" name="pos2"/>
          <p:cNvSpPr/>
          <p:nvPr/>
        </p:nvSpPr>
        <p:spPr>
          <a:xfrm>
            <a:off x="6263640" y="196596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06120F">
              <a:alpha val="6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20116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2402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Usemos C en todos los sectores: es la más robusta ante obstrucciones.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22402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costo no se justifica en sectores abiertos: cada sector necesita su propia solución.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343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MÁS DE UNA ES VIABLE, LA DGTC PRIORIZA LA MEJOR RELACIÓN ENTRE</a:t>
            </a:r>
            <a:endParaRPr lang="en-US" sz="1200" dirty="0"/>
          </a:p>
        </p:txBody>
      </p:sp>
      <p:sp>
        <p:nvSpPr>
          <p:cNvPr id="11" name="crit Calidad"/>
          <p:cNvSpPr/>
          <p:nvPr/>
        </p:nvSpPr>
        <p:spPr>
          <a:xfrm>
            <a:off x="640080" y="4800600"/>
            <a:ext cx="20574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800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</a:t>
            </a:r>
            <a:endParaRPr lang="en-US" sz="1400" dirty="0"/>
          </a:p>
        </p:txBody>
      </p:sp>
      <p:sp>
        <p:nvSpPr>
          <p:cNvPr id="13" name="crit Factibilidad operativa"/>
          <p:cNvSpPr/>
          <p:nvPr/>
        </p:nvSpPr>
        <p:spPr>
          <a:xfrm>
            <a:off x="2852928" y="4800600"/>
            <a:ext cx="20574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852928" y="4800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Factibilidad operativa</a:t>
            </a:r>
            <a:endParaRPr lang="en-US" sz="1400" dirty="0"/>
          </a:p>
        </p:txBody>
      </p:sp>
      <p:sp>
        <p:nvSpPr>
          <p:cNvPr id="15" name="crit Cumplimiento"/>
          <p:cNvSpPr/>
          <p:nvPr/>
        </p:nvSpPr>
        <p:spPr>
          <a:xfrm>
            <a:off x="5065776" y="4800600"/>
            <a:ext cx="20574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65776" y="4800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</a:t>
            </a:r>
            <a:endParaRPr lang="en-US" sz="1400" dirty="0"/>
          </a:p>
        </p:txBody>
      </p:sp>
      <p:sp>
        <p:nvSpPr>
          <p:cNvPr id="17" name="crit Tiempo"/>
          <p:cNvSpPr/>
          <p:nvPr/>
        </p:nvSpPr>
        <p:spPr>
          <a:xfrm>
            <a:off x="7278624" y="4800600"/>
            <a:ext cx="20574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78624" y="4800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</a:t>
            </a:r>
            <a:endParaRPr lang="en-US" sz="1400" dirty="0"/>
          </a:p>
        </p:txBody>
      </p:sp>
      <p:sp>
        <p:nvSpPr>
          <p:cNvPr id="19" name="crit Costo"/>
          <p:cNvSpPr/>
          <p:nvPr/>
        </p:nvSpPr>
        <p:spPr>
          <a:xfrm>
            <a:off x="9491472" y="4800600"/>
            <a:ext cx="20574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91472" y="4800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9CC7B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HERRAMIENTA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matriz de decisión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270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554480"/>
                <a:gridCol w="1051560"/>
                <a:gridCol w="1097280"/>
                <a:gridCol w="1097280"/>
                <a:gridCol w="1280160"/>
                <a:gridCol w="132588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Terreno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Satélites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PDOP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Cobertura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Alternativa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¿Por qué descarto las otras?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0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12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Sector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612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Abierto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612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612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1,1–1,8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612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±3 cm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612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Permanente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E870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?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E870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?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12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Sector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612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Obstrucción NW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612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6–8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612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3,8–5,2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612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±10 cm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612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Intermitente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E870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?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E870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?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12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Sector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612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Quebrada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612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7–9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612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2,5–4,1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612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±5 cm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612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E870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?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E870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?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828800" y="46177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HECHOS · datos del caso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90956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INFERENCIAS · tu decisión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120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esta matriz en tu informe y agrega una columna con las fuentes de error de cada sector. Cada “?” se responde con un dato del caso, no con una opinión.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5F736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ENSAYO EN PAREJAS · 6 MIN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Ensayemos con un sector ficticio</a:t>
            </a:r>
            <a:endParaRPr lang="en-US" sz="3400" dirty="0"/>
          </a:p>
        </p:txBody>
      </p:sp>
      <p:sp>
        <p:nvSpPr>
          <p:cNvPr id="4" name="sector practica"/>
          <p:cNvSpPr/>
          <p:nvPr/>
        </p:nvSpPr>
        <p:spPr>
          <a:xfrm>
            <a:off x="640080" y="1920240"/>
            <a:ext cx="4572000" cy="3886200"/>
          </a:xfrm>
          <a:prstGeom prst="roundRect">
            <a:avLst>
              <a:gd name="adj" fmla="val 1882"/>
            </a:avLst>
          </a:prstGeom>
          <a:solidFill>
            <a:srgbClr val="1B3A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DE PRÁCTICA (FICTICIO)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Faena minera en altiplano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4206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Terreno abierto con un cerro alto al este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10–12 satélites observables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PDOP 2,0–3,4 · HDOP 1,2–1,9 · VDOP 1,6–2,9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 requerida ±5 cm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C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permanente · equipos cerca de maquinaria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1993392"/>
            <a:ext cx="512064" cy="512064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0" y="19933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93852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los hechos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26771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Subraya solo datos, sin interpretar.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2779776"/>
            <a:ext cx="512064" cy="512064"/>
          </a:xfrm>
          <a:prstGeom prst="ellipse">
            <a:avLst/>
          </a:prstGeom>
          <a:solidFill>
            <a:srgbClr val="5AA9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0" y="2779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72491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 el DOP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05409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 horizontal y vertical.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0" y="3566160"/>
            <a:ext cx="512064" cy="512064"/>
          </a:xfrm>
          <a:prstGeom prst="ellipse">
            <a:avLst/>
          </a:prstGeom>
          <a:solidFill>
            <a:srgbClr val="E870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0" y="3566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5112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Nombra fuentes de error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8404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genera el cerro? ¿Y la maquinaria?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0" y="4352544"/>
            <a:ext cx="512064" cy="512064"/>
          </a:xfrm>
          <a:prstGeom prst="ellipse">
            <a:avLst/>
          </a:prstGeom>
          <a:solidFill>
            <a:srgbClr val="4FD1A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0" y="4352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2976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Elige y descarta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6268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alternativa y por qué no las otras.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0" y="5138928"/>
            <a:ext cx="512064" cy="512064"/>
          </a:xfrm>
          <a:prstGeom prst="ellipse">
            <a:avLst/>
          </a:prstGeom>
          <a:solidFill>
            <a:srgbClr val="9FB5A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69280" y="5138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508406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 un límite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541324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dato te falta para estar seguro?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9FB5A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ESCRIBIR CON HONESTIDAD TÉCNICA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Hecho, inferencia y límite: que se note la diferencia</a:t>
            </a:r>
            <a:endParaRPr lang="en-US" sz="3400" dirty="0"/>
          </a:p>
        </p:txBody>
      </p:sp>
      <p:sp>
        <p:nvSpPr>
          <p:cNvPr id="4" name="hil HECHO"/>
          <p:cNvSpPr/>
          <p:nvPr/>
        </p:nvSpPr>
        <p:spPr>
          <a:xfrm>
            <a:off x="640080" y="1920240"/>
            <a:ext cx="3566160" cy="35661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" name="hil head HECHO"/>
          <p:cNvSpPr/>
          <p:nvPr/>
        </p:nvSpPr>
        <p:spPr>
          <a:xfrm>
            <a:off x="640080" y="1920240"/>
            <a:ext cx="3566160" cy="68580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20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que entrega el caso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«El sector de práctica informa un PDOP entre 2,0 y 3,4.»</a:t>
            </a:r>
            <a:endParaRPr lang="en-US" sz="1600" dirty="0"/>
          </a:p>
        </p:txBody>
      </p:sp>
      <p:sp>
        <p:nvSpPr>
          <p:cNvPr id="9" name="hil INFERENCIA"/>
          <p:cNvSpPr/>
          <p:nvPr/>
        </p:nvSpPr>
        <p:spPr>
          <a:xfrm>
            <a:off x="4389120" y="1920240"/>
            <a:ext cx="3566160" cy="35661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0" name="hil head INFERENCIA"/>
          <p:cNvSpPr/>
          <p:nvPr/>
        </p:nvSpPr>
        <p:spPr>
          <a:xfrm>
            <a:off x="4389120" y="1920240"/>
            <a:ext cx="3566160" cy="685800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920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INFERENCIA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tú concluyes a partir de los hechos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5204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«El cerro al este podría bloquear satélites bajos en ese azimut y agrupar los visibles.»</a:t>
            </a:r>
            <a:endParaRPr lang="en-US" sz="1600" dirty="0"/>
          </a:p>
        </p:txBody>
      </p:sp>
      <p:sp>
        <p:nvSpPr>
          <p:cNvPr id="14" name="hil LÍMITE"/>
          <p:cNvSpPr/>
          <p:nvPr/>
        </p:nvSpPr>
        <p:spPr>
          <a:xfrm>
            <a:off x="8138160" y="1920240"/>
            <a:ext cx="3566160" cy="35661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5" name="hil head LÍMITE"/>
          <p:cNvSpPr/>
          <p:nvPr/>
        </p:nvSpPr>
        <p:spPr>
          <a:xfrm>
            <a:off x="8138160" y="1920240"/>
            <a:ext cx="3566160" cy="685800"/>
          </a:xfrm>
          <a:prstGeom prst="rect">
            <a:avLst/>
          </a:prstGeom>
          <a:solidFill>
            <a:srgbClr val="E870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1920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se puede afirmar con la información disponible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5204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«No se informa la hora de observación, por lo que no es posible asegurar que el DOP se mantenga.»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669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evalúa el criterio 3: reconocer limitaciones y alcances de tu análisis.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5F736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NUEVO · FICHA TÉCNICA DEL INFORME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Declara tus cuatro capas antes de analizar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74519"/>
          <a:ext cx="10927080" cy="3328416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377440"/>
                <a:gridCol w="4937760"/>
                <a:gridCol w="361188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Qué declarar en Horizonte Sur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Por qué</a:t>
                      </a:r>
                    </a:p>
                  </a:txBody>
                  <a:tcPr marL="73152" marR="73152" anchor="ctr">
                    <a:solidFill>
                      <a:srgbClr val="0041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A0700F"/>
                          </a:solidFill>
                          <a:latin typeface="Arial"/>
                        </a:rPr>
                        <a:t>Marco de referencia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SIRGAS-Chile (red CORS del IGM)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Marco oficial vigente en Chile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A0700F"/>
                          </a:solidFill>
                          <a:latin typeface="Arial"/>
                        </a:rPr>
                        <a:t>Época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2025.0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Chile se mueve: sin época, la coordenada queda incompleta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A0700F"/>
                          </a:solidFill>
                          <a:latin typeface="Arial"/>
                        </a:rPr>
                        <a:t>Elipsoide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GRS80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Elipsoide de SIRGAS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C4BD1"/>
                          </a:solidFill>
                          <a:latin typeface="Arial"/>
                        </a:rPr>
                        <a:t>Proyección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UTM Huso 19 Sur (EPSG o parámetros)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33° S, al este de 72° O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C4BD1"/>
                          </a:solidFill>
                          <a:latin typeface="Arial"/>
                        </a:rPr>
                        <a:t>Alturas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Elipsoidales u ortométricas + modelo geoidal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h ≠ H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F6FD0"/>
                          </a:solidFill>
                          <a:latin typeface="Arial"/>
                        </a:rPr>
                        <a:t>Constelación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Alternativa A, B o C por sector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31F"/>
                          </a:solidFill>
                          <a:latin typeface="Arial"/>
                        </a:rPr>
                        <a:t>Es tu decisión técnica</a:t>
                      </a:r>
                    </a:p>
                  </a:txBody>
                  <a:tcPr marL="73152" marR="73152" anchor="ctr"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1">
                <a:solidFill>
                  <a:srgbClr val="5F736D"/>
                </a:solidFill>
                <a:latin typeface="Arial"/>
              </a:rPr>
              <a:t>Si tu software no tiene un código EPSG para la época 2025.0, define el sistema con GRS80 + UTM 19S y declara la época en el texto.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ENTREGA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informe en cuatro movimientos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9476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condiciones y DOP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3134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comparativa de los tres sectores, fuentes de error, H y V.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6207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9352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y fundamentación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30098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 por sector o para todo el proyecto, con descartes.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849624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9227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técnicas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28853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Hallazgos, decisión final, límites de información.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837176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910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527608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menos tres, una de ellas innovadora.</a:t>
            </a:r>
            <a:endParaRPr lang="en-US" sz="1300" dirty="0"/>
          </a:p>
        </p:txBody>
      </p:sp>
      <p:sp>
        <p:nvSpPr>
          <p:cNvPr id="16" name="formato"/>
          <p:cNvSpPr/>
          <p:nvPr/>
        </p:nvSpPr>
        <p:spPr>
          <a:xfrm>
            <a:off x="7086600" y="1874520"/>
            <a:ext cx="4480560" cy="3886200"/>
          </a:xfrm>
          <a:prstGeom prst="roundRect">
            <a:avLst>
              <a:gd name="adj" fmla="val 1882"/>
            </a:avLst>
          </a:prstGeom>
          <a:solidFill>
            <a:srgbClr val="1B3A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60920" y="2057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246888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· ponderación 50 %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Palatino Linotype 12 · interlineado 1,5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 7 páginas sin portada ni referencias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en PDF por el buzón de Canvas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del archivo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S3_AplicaciónSumativa1_ApellidosNombre.pdf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9FB5A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EVALÚA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está el puntaje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83080"/>
          <a:ext cx="4206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874520" y="33375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400" dirty="0"/>
          </a:p>
          <a:p>
            <a:pPr algn="ctr" indent="0" marL="0">
              <a:buNone/>
            </a:pPr>
            <a:r>
              <a:rPr lang="en-US" sz="1000" b="1" spc="300" kern="0" dirty="0">
                <a:solidFill>
                  <a:srgbClr val="5F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178308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80136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 y precisión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 PDOP, HDOP y VDOP de los tres sectores con la precisión requerida.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26060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5AA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262432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GNSS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291693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 coherente con terreno, cobertura, precisión y restricciones; explica el rol de cada factor.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120640" y="342900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7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344728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Argumentación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373989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Decisiones, descartes y conclusiones apoyados en evidencia del caso.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120640" y="425196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427024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 y honestidad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0" y="456285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Distingue hechos, inferencias y conclusiones.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120640" y="50749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FD1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0" y="509320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0" y="538581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o más; al menos una innovadora.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5F736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 DURA DOS AÑOS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harías mejor en la próxima campaña?</a:t>
            </a:r>
            <a:endParaRPr lang="en-US" sz="3400" dirty="0"/>
          </a:p>
        </p:txBody>
      </p:sp>
      <p:sp>
        <p:nvSpPr>
          <p:cNvPr id="4" name="pista 0"/>
          <p:cNvSpPr/>
          <p:nvPr/>
        </p:nvSpPr>
        <p:spPr>
          <a:xfrm>
            <a:off x="640080" y="2148840"/>
            <a:ext cx="6035040" cy="960120"/>
          </a:xfrm>
          <a:prstGeom prst="roundRect">
            <a:avLst>
              <a:gd name="adj" fmla="val 7619"/>
            </a:avLst>
          </a:prstGeom>
          <a:solidFill>
            <a:srgbClr val="06120F">
              <a:alpha val="7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5856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SALIR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usarías la planificación de la ventana de observación?</a:t>
            </a:r>
            <a:endParaRPr lang="en-US" sz="1600" dirty="0"/>
          </a:p>
        </p:txBody>
      </p:sp>
      <p:sp>
        <p:nvSpPr>
          <p:cNvPr id="7" name="pista 1"/>
          <p:cNvSpPr/>
          <p:nvPr/>
        </p:nvSpPr>
        <p:spPr>
          <a:xfrm>
            <a:off x="640080" y="3291840"/>
            <a:ext cx="6035040" cy="960120"/>
          </a:xfrm>
          <a:prstGeom prst="roundRect">
            <a:avLst>
              <a:gd name="adj" fmla="val 7619"/>
            </a:avLst>
          </a:prstGeom>
          <a:solidFill>
            <a:srgbClr val="06120F">
              <a:alpha val="7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40156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LA MEDICIÓN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033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controles dejarían evidencia de la calidad?</a:t>
            </a:r>
            <a:endParaRPr lang="en-US" sz="1600" dirty="0"/>
          </a:p>
        </p:txBody>
      </p:sp>
      <p:sp>
        <p:nvSpPr>
          <p:cNvPr id="10" name="pista 2"/>
          <p:cNvSpPr/>
          <p:nvPr/>
        </p:nvSpPr>
        <p:spPr>
          <a:xfrm>
            <a:off x="640080" y="4434840"/>
            <a:ext cx="6035040" cy="960120"/>
          </a:xfrm>
          <a:prstGeom prst="roundRect">
            <a:avLst>
              <a:gd name="adj" fmla="val 7619"/>
            </a:avLst>
          </a:prstGeom>
          <a:solidFill>
            <a:srgbClr val="06120F">
              <a:alpha val="7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54456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8463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aprende la DGTC de esta campaña para las siguientes?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6692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preguntas para pensar, no respuestas.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9CC7B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QUIZ FINAL · POLLS DE TEAMS · 5 PREGUNTAS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¿Listo para la misión?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0" i="0">
                <a:solidFill>
                  <a:srgbClr val="F2B33D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202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900" b="0" i="0">
                <a:solidFill>
                  <a:srgbClr val="FFFFFF"/>
                </a:solidFill>
                <a:latin typeface="Arial"/>
              </a:rPr>
              <a:t>¿Qué constelación tiene la mayor inclinación orbital?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0" i="0">
                <a:solidFill>
                  <a:srgbClr val="F2B33D"/>
                </a:solidFill>
                <a:latin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9748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900" b="0" i="0">
                <a:solidFill>
                  <a:srgbClr val="FFFFFF"/>
                </a:solidFill>
                <a:latin typeface="Arial"/>
              </a:rPr>
              <a:t>¿Qué es SIRGAS-Chile 2025.0: constelación, proyección o sistema de referencia?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0" i="0">
                <a:solidFill>
                  <a:srgbClr val="F2B33D"/>
                </a:solidFill>
                <a:latin typeface="Cambria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47472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900" b="0" i="0">
                <a:solidFill>
                  <a:srgbClr val="FFFFFF"/>
                </a:solidFill>
                <a:latin typeface="Arial"/>
              </a:rPr>
              <a:t>¿Qué produce la multitrayectoria?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0" i="0">
                <a:solidFill>
                  <a:srgbClr val="F2B33D"/>
                </a:solidFill>
                <a:latin typeface="Cambria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2519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900" b="0" i="0">
                <a:solidFill>
                  <a:srgbClr val="FFFFFF"/>
                </a:solidFill>
                <a:latin typeface="Arial"/>
              </a:rPr>
              <a:t>¿Por qué el VDOP suele ser mayor que el HDOP?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0" i="0">
                <a:solidFill>
                  <a:srgbClr val="F2B33D"/>
                </a:solidFill>
                <a:latin typeface="Cambria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0292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900" b="0" i="0">
                <a:solidFill>
                  <a:srgbClr val="FFFFFF"/>
                </a:solidFill>
                <a:latin typeface="Arial"/>
              </a:rPr>
              <a:t>¿Qué servicio de Galileo protege contra el spoofing?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de salida 3-2-1</a:t>
            </a:r>
            <a:endParaRPr lang="en-US" sz="3400" dirty="0"/>
          </a:p>
        </p:txBody>
      </p:sp>
      <p:sp>
        <p:nvSpPr>
          <p:cNvPr id="4" name="tk 3"/>
          <p:cNvSpPr/>
          <p:nvPr/>
        </p:nvSpPr>
        <p:spPr>
          <a:xfrm>
            <a:off x="640080" y="19202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06120F">
              <a:alpha val="7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que usarás en tu informe</a:t>
            </a:r>
            <a:endParaRPr lang="en-US" sz="1400" dirty="0"/>
          </a:p>
        </p:txBody>
      </p:sp>
      <p:sp>
        <p:nvSpPr>
          <p:cNvPr id="7" name="tk 2"/>
          <p:cNvSpPr/>
          <p:nvPr/>
        </p:nvSpPr>
        <p:spPr>
          <a:xfrm>
            <a:off x="3474720" y="19202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06120F">
              <a:alpha val="7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03320" y="1965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2743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de error que esperas en el caso</a:t>
            </a:r>
            <a:endParaRPr lang="en-US" sz="1400" dirty="0"/>
          </a:p>
        </p:txBody>
      </p:sp>
      <p:sp>
        <p:nvSpPr>
          <p:cNvPr id="10" name="tk 1"/>
          <p:cNvSpPr/>
          <p:nvPr/>
        </p:nvSpPr>
        <p:spPr>
          <a:xfrm>
            <a:off x="6309360" y="19202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06120F">
              <a:alpha val="7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965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743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duda que aún tienes</a:t>
            </a:r>
            <a:endParaRPr lang="en-US" sz="1400" dirty="0"/>
          </a:p>
        </p:txBody>
      </p:sp>
      <p:sp>
        <p:nvSpPr>
          <p:cNvPr id="13" name="fechas"/>
          <p:cNvSpPr/>
          <p:nvPr/>
        </p:nvSpPr>
        <p:spPr>
          <a:xfrm>
            <a:off x="640080" y="5074920"/>
            <a:ext cx="8321040" cy="1051560"/>
          </a:xfrm>
          <a:prstGeom prst="roundRect">
            <a:avLst>
              <a:gd name="adj" fmla="val 6957"/>
            </a:avLst>
          </a:prstGeom>
          <a:solidFill>
            <a:srgbClr val="004136">
              <a:alpha val="90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12064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1 · semana 3 (12 al 18 de octubre)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domingo 18/10 a las 23:59 h (confirma la hora en Canvas). Dudas disciplinares: foro de consultas o mensajería Canvas. Temas administrativos: tu tutor/a.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9FB5A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PARA ESTUDIAR DESPUÉS DE LA CLASE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Tu kit de estudio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59" y="2039112"/>
            <a:ext cx="1014984" cy="274320"/>
          </a:xfrm>
          <a:prstGeom prst="roundRect">
            <a:avLst>
              <a:gd name="adj" fmla="val 50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39112"/>
            <a:ext cx="10149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6120F"/>
                </a:solidFill>
                <a:latin typeface="Arial"/>
              </a:rPr>
              <a:t>CANVAS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50592"/>
            <a:ext cx="49834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 i="0">
                <a:solidFill>
                  <a:srgbClr val="F2B33D"/>
                </a:solidFill>
                <a:latin typeface="Cambria"/>
              </a:rPr>
              <a:t>Guion de estudio (Word)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07792"/>
            <a:ext cx="4983479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DCEBE5"/>
                </a:solidFill>
                <a:latin typeface="Arial"/>
              </a:rPr>
              <a:t>Resumen lámina por lámina, ejemplos de terreno y autoevaluación.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74519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2039112"/>
            <a:ext cx="1014984" cy="274320"/>
          </a:xfrm>
          <a:prstGeom prst="roundRect">
            <a:avLst>
              <a:gd name="adj" fmla="val 50000"/>
            </a:avLst>
          </a:prstGeom>
          <a:solidFill>
            <a:srgbClr val="B7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10149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CANVAS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450592"/>
            <a:ext cx="49834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 i="0">
                <a:solidFill>
                  <a:srgbClr val="B79CFF"/>
                </a:solidFill>
                <a:latin typeface="Cambria"/>
              </a:rPr>
              <a:t>Página interactiva (HTML)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907792"/>
            <a:ext cx="4983479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DCEBE5"/>
                </a:solidFill>
                <a:latin typeface="Arial"/>
              </a:rPr>
              <a:t>Órbitas animadas, elipsoides, husos UTM de todo Chile, escala y quiz.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59" y="4050791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E87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050791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WEB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462272"/>
            <a:ext cx="49834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 i="0">
                <a:solidFill>
                  <a:srgbClr val="E8705C"/>
                </a:solidFill>
                <a:latin typeface="Cambria"/>
              </a:rPr>
              <a:t>sirgaschile.cl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919472"/>
            <a:ext cx="49834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DCEBE5"/>
                </a:solidFill>
                <a:latin typeface="Arial"/>
              </a:rPr>
              <a:t>Red CORS, certificados y Transformador de Datum del IGM.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88620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0E2620"/>
          </a:solidFill>
          <a:ln w="12700">
            <a:solidFill>
              <a:srgbClr val="1B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4050791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5A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050791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WEB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462272"/>
            <a:ext cx="49834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 i="0">
                <a:solidFill>
                  <a:srgbClr val="5AA9FF"/>
                </a:solidFill>
                <a:latin typeface="Cambria"/>
              </a:rPr>
              <a:t>epsg.io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919472"/>
            <a:ext cx="49834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DCEBE5"/>
                </a:solidFill>
                <a:latin typeface="Arial"/>
              </a:rPr>
              <a:t>Consulta 20042, 20048, 20049 y sus definiciones.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40080" y="868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profundizar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10881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Berné Valero, J. L., Anquela Julián, A. B., &amp; Garrido Villén, N. (2014). </a:t>
            </a:r>
            <a:pPr indent="0" marL="0">
              <a:spcAft>
                <a:spcPts val="1200"/>
              </a:spcAft>
              <a:buNone/>
            </a:pPr>
            <a:r>
              <a:rPr lang="en-US" sz="11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GNSS. GPS: fundamentos y aplicaciones en Geomática</a:t>
            </a:r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Editorial UPV.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Space Agency. (s. f.). </a:t>
            </a:r>
            <a:pPr indent="0" marL="0">
              <a:spcAft>
                <a:spcPts val="1200"/>
              </a:spcAft>
              <a:buNone/>
            </a:pPr>
            <a:r>
              <a:rPr lang="en-US" sz="11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Navipedia</a:t>
            </a:r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https://gssc.esa.int/navipedia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GNSS Planning Online. (s. f.). </a:t>
            </a:r>
            <a:pPr indent="0" marL="0">
              <a:spcAft>
                <a:spcPts val="1200"/>
              </a:spcAft>
              <a:buNone/>
            </a:pPr>
            <a:r>
              <a:rPr lang="en-US" sz="11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GNSS Planning</a:t>
            </a:r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[Aplicación web]. https://www.gnssplanning.com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Earth Observatory. (s. f.). </a:t>
            </a:r>
            <a:pPr indent="0" marL="0">
              <a:spcAft>
                <a:spcPts val="1200"/>
              </a:spcAft>
              <a:buNone/>
            </a:pPr>
            <a:r>
              <a:rPr lang="en-US" sz="11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Marble</a:t>
            </a:r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[Imagen satelital]. NASA Visible Earth. https://visibleearth.nasa.gov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Profesional Santo Tomás. (2026). </a:t>
            </a:r>
            <a:pPr indent="0" marL="0">
              <a:spcAft>
                <a:spcPts val="1200"/>
              </a:spcAft>
              <a:buNone/>
            </a:pPr>
            <a:r>
              <a:rPr lang="en-US" sz="11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sumativa 1: Informe técnico de análisis, selección y recomendaciones para un levantamiento GNSS (CTI-V0335)</a:t>
            </a:r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[Documento de asignatura].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Comisión Nacional de Riego. (2015). Manual de procedimientos geodésicos y topográficos. CNR.</a:t>
            </a:r>
            <a:pPr indent="0" marL="0">
              <a:spcAft>
                <a:spcPts val="1200"/>
              </a:spcAft>
              <a:buNone/>
            </a:pPr>
            <a:pPr indent="0" marL="0">
              <a:spcAft>
                <a:spcPts val="1200"/>
              </a:spcAft>
              <a:buNone/>
            </a:pP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GNSS Service Centre. (2026). Constellation information. https://www.gsc-europa.eu</a:t>
            </a:r>
            <a:pPr indent="0" marL="0">
              <a:spcAft>
                <a:spcPts val="1200"/>
              </a:spcAft>
              <a:buNone/>
            </a:pPr>
            <a:pPr indent="0" marL="0">
              <a:spcAft>
                <a:spcPts val="1200"/>
              </a:spcAft>
              <a:buNone/>
            </a:pP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Geográfico Militar. (2025). Red Geodésica Nacional SIRGAS-Chile, época 2025.0. https://www.sirgaschile.cl</a:t>
            </a:r>
            <a:pPr indent="0" marL="0">
              <a:spcAft>
                <a:spcPts val="1200"/>
              </a:spcAft>
              <a:buNone/>
            </a:pPr>
            <a:pPr indent="0" marL="0">
              <a:spcAft>
                <a:spcPts val="1200"/>
              </a:spcAft>
              <a:buNone/>
            </a:pP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Ministerio de Obras Públicas. (2001). Manual de carreteras, Vol. 2. Dirección de Vialidad.</a:t>
            </a:r>
            <a:pPr indent="0" marL="0">
              <a:spcAft>
                <a:spcPts val="1200"/>
              </a:spcAft>
              <a:buNone/>
            </a:pPr>
            <a:pPr indent="0" marL="0">
              <a:spcAft>
                <a:spcPts val="1200"/>
              </a:spcAft>
              <a:buNone/>
            </a:pP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Earth. (s. f.). Admin 0 – Countries 1:10m [Datos vectoriales]. https://www.naturalearthdata.com</a:t>
            </a:r>
            <a:pPr indent="0" marL="0">
              <a:spcAft>
                <a:spcPts val="1200"/>
              </a:spcAft>
              <a:buNone/>
            </a:pPr>
            <a:pPr indent="0" marL="0">
              <a:spcAft>
                <a:spcPts val="1200"/>
              </a:spcAft>
              <a:buNone/>
            </a:pP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Coast Guard Navigation Center. (2026). GPS constellation status. https://www.navcen.uscg.gov/gps-constellation</a:t>
            </a:r>
            <a:pPr indent="0" marL="0">
              <a:spcAft>
                <a:spcPts val="1200"/>
              </a:spcAft>
              <a:buNone/>
            </a:pPr>
            <a:pPr indent="0" marL="0">
              <a:spcAft>
                <a:spcPts val="1200"/>
              </a:spcAft>
              <a:buNone/>
            </a:pP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Órbitas dibujadas con parámetros nominales de cada constelación; sky plots y escena de errores son ilustraciones didácticas.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5F736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nto Tomas GNSS Mision">
  <a:themeElements>
    <a:clrScheme name="Santo Tomas GNSS Mision">
      <a:dk1>
        <a:srgbClr val="06120F"/>
      </a:dk1>
      <a:lt1>
        <a:srgbClr val="FFFFFF"/>
      </a:lt1>
      <a:dk2>
        <a:srgbClr val="004136"/>
      </a:dk2>
      <a:lt2>
        <a:srgbClr val="F2F6F4"/>
      </a:lt2>
      <a:accent1>
        <a:srgbClr val="F2B33D"/>
      </a:accent1>
      <a:accent2>
        <a:srgbClr val="E8705C"/>
      </a:accent2>
      <a:accent3>
        <a:srgbClr val="5AA9FF"/>
      </a:accent3>
      <a:accent4>
        <a:srgbClr val="4FD1A5"/>
      </a:accent4>
      <a:accent5>
        <a:srgbClr val="9FB5AE"/>
      </a:accent5>
      <a:accent6>
        <a:srgbClr val="1B3A33"/>
      </a:accent6>
      <a:hlink>
        <a:srgbClr val="5AA9FF"/>
      </a:hlink>
      <a:folHlink>
        <a:srgbClr val="4FD1A5"/>
      </a:folHlink>
    </a:clrScheme>
    <a:fontScheme name="Santo Tomas GNSS Mis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Instituto Profesional Santo Tomás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Misión Horizonte Sur · CTI00335</dc:title>
  <dc:subject>PptxGenJS Presentation</dc:subject>
  <dc:creator>Ian Arias Carrasco</dc:creator>
  <cp:lastModifiedBy>Ian Arias Carrasco</cp:lastModifiedBy>
  <cp:revision>1</cp:revision>
  <dcterms:created xsi:type="dcterms:W3CDTF">2026-10-03T07:16:24Z</dcterms:created>
  <dcterms:modified xsi:type="dcterms:W3CDTF">2026-10-03T07:16:24Z</dcterms:modified>
</cp:coreProperties>
</file>